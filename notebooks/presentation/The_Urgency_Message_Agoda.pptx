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9" r:id="rId2"/>
    <p:sldId id="257" r:id="rId3"/>
    <p:sldId id="258" r:id="rId4"/>
    <p:sldId id="259" r:id="rId5"/>
    <p:sldId id="260" r:id="rId6"/>
    <p:sldId id="270" r:id="rId7"/>
    <p:sldId id="271" r:id="rId8"/>
    <p:sldId id="272" r:id="rId9"/>
    <p:sldId id="281" r:id="rId10"/>
    <p:sldId id="275" r:id="rId11"/>
    <p:sldId id="274" r:id="rId12"/>
    <p:sldId id="265"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038" autoAdjust="0"/>
  </p:normalViewPr>
  <p:slideViewPr>
    <p:cSldViewPr snapToGrid="0" snapToObjects="1">
      <p:cViewPr varScale="1">
        <p:scale>
          <a:sx n="55" d="100"/>
          <a:sy n="55" d="100"/>
        </p:scale>
        <p:origin x="1072"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291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a:t>This case study asked whether hotel prices genuinely rise as check-in approaches, and where Agoda should surface an urgency nudge. I'll give you the answer upfront, then show you the full journey in the data.</a:t>
            </a:r>
            <a:endParaRPr dirty="0"/>
          </a:p>
        </p:txBody>
      </p:sp>
      <p:sp>
        <p:nvSpPr>
          <p:cNvPr id="159" name="Google Shape;15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Bottom line: the price-rise claim is false on average. The apparent 39.5% move is selection bias - I'll show you exactly what causes it. Once I hold everything else constant and compare the same room-night to itself, the effect is statistically zero, p equals 0.88.</a:t>
            </a:r>
            <a:endParaRPr lang="en-IN" dirty="0"/>
          </a:p>
          <a:p>
            <a:r>
              <a:rPr lang="en-IN" i="1" dirty="0"/>
              <a:t>But the opportunity isn't dead. It moves from 'all guests' to where prices genuinely do rise — and in one segment that's 82% of the time. So the recommendation is targeted, honest messaging, not a blanket claim.</a:t>
            </a:r>
            <a:endParaRPr lang="en-IN"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The Product Owner wants an urgency message. Before I could design it, I had to verify its premise. A false claim is a trust and compliance risk — not just an analytics problem.</a:t>
            </a:r>
            <a:endParaRPr lang="en-IN" dirty="0"/>
          </a:p>
          <a:p>
            <a:r>
              <a:rPr lang="en-IN" i="1" dirty="0"/>
              <a:t>My four steps: explore the data and fix data quality issues; add observable controls to see how much the timing effect shrinks; then compare each hotel to itself to remove all hotel-level confounding; and finally narrow to the same room-night at different booking times — that's the cleanest possible test, where only timing varies. The conclusion flows directly from that progression."</a:t>
            </a:r>
            <a:endParaRPr lang="en-IN"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49,061 clean bookings across 5 cities, 880 hotels, Q4 2016. Three data quality fixes: corrected a misspelled accommodation-type column, removed 3 rows where check-in predates booking — logically impossible. Everything else was clean.</a:t>
            </a:r>
            <a:endParaRPr lang="en-IN" dirty="0"/>
          </a:p>
          <a:p>
            <a:r>
              <a:rPr lang="en-IN" i="1" dirty="0"/>
              <a:t>Two things to flag from the EDA: half of all bookings happen within 8 days of check-in — this is a late-funnel, high-intent dataset. And mean ADR is $148 versus a $114 median — a luxury tail inflates the average, so I'll use median where appropriate. I'll also pause on that 47.9% late-funnel number later — it has direct implications for where to place the nudge.</a:t>
            </a:r>
            <a:br>
              <a:rPr lang="en-IN" i="1" dirty="0"/>
            </a:br>
            <a:r>
              <a:rPr lang="en-IN" dirty="0"/>
              <a:t>Before I touched booking window at all, I wanted to understand what genuinely drives price. Star rating dominates — 5-star rooms average $281 versus roughly $50 for budget. That's a 5x gap. Weekend adds 16%, chain adds 55%. These are the structural drivers. Booking timing, as you'll see, is almost irrelevant by comparison</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Here's the tempting first look. Plot average daily rate against booking window — 60 days out down to zero — and I got an apparent 39.5% price drop as check-in approaches. That's a minus $58 swing. It looks like prices are rising as you book early and falling near the </a:t>
            </a:r>
            <a:r>
              <a:rPr lang="en-IN" i="1"/>
              <a:t>check-in date date</a:t>
            </a:r>
            <a:r>
              <a:rPr lang="en-IN" i="1" dirty="0"/>
              <a:t>.</a:t>
            </a:r>
            <a:endParaRPr lang="en-IN" dirty="0"/>
          </a:p>
          <a:p>
            <a:r>
              <a:rPr lang="en-IN" i="1" dirty="0"/>
              <a:t>But notice R-squared is 0.013. Booking window explains barely 1% of price variation. Something structural is doing the real work — and that R-squared is the tell. What M1 is actually doing is comparing expensive hotels that book early against cheap hotels that book late. It's a hotel-mix comparison masquerading as a time trend. The naive reading would have us show a price-rise message that's actually driven by selection, not timing.</a:t>
            </a:r>
            <a:endParaRPr lang="en-IN"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Model 2 adds the structural controls: star rating, chain status, weekend, length of stay, city, and month. The per-day timing effect shrinks from minus 97 cents to minus 42 cents — a 57% reduction just by holding observable quality constant. R-squared jumps from 1% to 41%. Star rating alone is worth about $67 per tier — it utterly dwarfs the timing effect.</a:t>
            </a:r>
            <a:endParaRPr lang="en-IN" dirty="0"/>
          </a:p>
          <a:p>
            <a:r>
              <a:rPr lang="en-IN" i="1" dirty="0"/>
              <a:t>M2 is better than M1. But it still mixes different hotels. What if there are unobserved quality differences — boutique feel, location within the city — that we can't capture with star rating? That's what M3 fixes.</a:t>
            </a:r>
            <a:endParaRPr lang="en-I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Model 3 compares each hotel to itself. I subtract each hotel's own average price and its own average booking window — what remains is purely within-hotel variation. No hotel can confound itself. The timing effect shrinks again, from minus 42 to minus 25 cents per day.</a:t>
            </a:r>
            <a:endParaRPr lang="en-IN" dirty="0"/>
          </a:p>
          <a:p>
            <a:r>
              <a:rPr lang="en-IN" i="1" dirty="0"/>
              <a:t>Look at the scatter. Across a $400-to-$500 price spread, the regression line is nearly flat. The quadrant labels tell the story: bookings sit in all four corners — booked earlier and priced higher, booked later and priced higher, and both opposites. There's no consistent pattern. The remaining minus-25-cent effect is tiny, and another chunk of it still vanished moving from M2 to M3 — that was unobserved quality that star rating couldn't capture. But are room-types within a hotel comparable? M4 solves that.</a:t>
            </a:r>
            <a:endParaRPr lang="en-I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Model 4 is the cleanest test possible. I group by hotel-and-check-in-date — I call these stay-nights — so I'm literally comparing the same room on the same night booked at different points in time. The only thing varying is timing. The coefficient is minus half a cent per day. P equals 0.88. The 95% confidence interval runs from minus 6 cents to plus 7 cents — it crosses zero comfortably. This is indistinguishable from no effect.</a:t>
            </a:r>
            <a:endParaRPr lang="en-IN" dirty="0"/>
          </a:p>
          <a:p>
            <a:r>
              <a:rPr lang="en-IN" i="1" dirty="0"/>
              <a:t>But is the average zero because nothing is happening, or because rises and falls cancel? The coin-flip analysis answers that. For every stay-night with five-plus observations, I fit a per-stay slope. Result: 47.5% rising, 52.5% falling. Nearly exactly a coin-flip. The rises and falls genuinely cancel. Prices are volatile, not directional — and that volatility is where the opportunity lives.</a:t>
            </a:r>
            <a:endParaRPr lang="en-I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IN" i="1" dirty="0"/>
              <a:t>The four-model collapse tells one coherent story. Minus 97 cents naive. Minus 42 cents after controls. Minus 25 cents comparing each hotel to itself. Minus half a cent for the same room-night — statistically zero.</a:t>
            </a:r>
            <a:endParaRPr lang="en-IN" dirty="0"/>
          </a:p>
          <a:p>
            <a:r>
              <a:rPr lang="en-IN" i="1" dirty="0"/>
              <a:t>The 39.5% was selection bias, pure and simple. Premium inventory fills early at high prices. Cheaper and distressed rooms linger near the date. That composition shift is what the raw data was capturing — not a real price trend.</a:t>
            </a:r>
            <a:endParaRPr lang="en-IN" dirty="0"/>
          </a:p>
          <a:p>
            <a:r>
              <a:rPr lang="en-IN" i="1" dirty="0"/>
              <a:t>What does this mean for messaging? A blanket 'prices are rising' claim would mislead roughly half of guests. That's a trust risk and potentially a compliance risk. But — and this is important — the finding doesn't kill the opportunity. It redirects it from 'do prices rise on average?' to 'where do prices genuinely rise?' That's the segmentation question.</a:t>
            </a:r>
            <a:endParaRPr lang="en-IN" dirty="0"/>
          </a:p>
        </p:txBody>
      </p:sp>
    </p:spTree>
    <p:extLst>
      <p:ext uri="{BB962C8B-B14F-4D97-AF65-F5344CB8AC3E}">
        <p14:creationId xmlns:p14="http://schemas.microsoft.com/office/powerpoint/2010/main" val="79938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The average is zero. But the distribution is not. Some segments genuinely and consistently see prices rise toward check-in. The hero target I found: City D, weekend, 4-5 star hotels. 82% of room-nights in this segment show rising prices. That's not noise — that's a real signal.</a:t>
            </a:r>
            <a:endParaRPr lang="en-IN" dirty="0"/>
          </a:p>
          <a:p>
            <a:r>
              <a:rPr lang="en-IN" i="1" dirty="0"/>
              <a:t>My rule: use price-rise wording only above the 50% threshold — only where the message is more likely true than false. Below that, default to scarcity. The 82% segment is where I'd concentrate the price-rise message first. And I'd layer it on the property page and booking form — the high-intent funnel stages where 47.9% of bookings already sit.</a:t>
            </a:r>
            <a:endParaRPr lang="en-IN"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shows the full segmentation: 2-way, and 3-way combinations filtered to at least 50 observations. The pattern is consistent — stacking the right signals compounds the rising-price probability. City D alone is moderate. Add weekend, it climbs. Add 4-5 star, you're at 82%. The more aligned the segment, the more honest and accurate the message. This is also the targeting logic for the A/B test — you'd start with the hero segment and test outward.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Four recommendations for the PO. First: default to scarcity. Availability-based prompts — 'limited rooms left' — are always true and never require a price direction assumption. They're the safe baseline.</a:t>
            </a:r>
            <a:endParaRPr lang="en-IN" dirty="0"/>
          </a:p>
          <a:p>
            <a:r>
              <a:rPr lang="en-IN" i="1" dirty="0"/>
              <a:t>Second: reserve price-rise language for proven segments — City D, weekend, 4-5 star at 82%, and other segments above the 50% threshold. The wording should be tied to live pricing signals, not hardcoded.</a:t>
            </a:r>
            <a:endParaRPr lang="en-IN" dirty="0"/>
          </a:p>
          <a:p>
            <a:r>
              <a:rPr lang="en-IN" i="1" dirty="0"/>
              <a:t>Third: placement at high-intent funnel stages — property page and booking form. The EDA showed 47.9% of bookings happen within 8 days. You're reaching guests who are already close to converting. A nudge there converts; on search results pages it mostly annoys.</a:t>
            </a:r>
            <a:endParaRPr lang="en-IN" dirty="0"/>
          </a:p>
          <a:p>
            <a:r>
              <a:rPr lang="en-IN" i="1" dirty="0"/>
              <a:t>Fourth: never fake urgency. No static countdowns. Tie every signal to live data — real inventory, real price movement. This protects trust and keeps you on the right side of consumer protection regulation</a:t>
            </a:r>
            <a:endParaRPr lang="en-IN"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I sized the opportunity on illustrative assumptions — conversion uplifts of 0.5%, 1%, and 2% on eligible sessions, with average booking value of $252. Conservative case is $1.3M; base case $2.5M; optimistic $5.1M per million eligible sessions. These are directional, not a revenue forecast.</a:t>
            </a:r>
            <a:endParaRPr lang="en-IN" dirty="0"/>
          </a:p>
          <a:p>
            <a:r>
              <a:rPr lang="en-IN" i="1" dirty="0"/>
              <a:t>The validation path matters more than the sizing. </a:t>
            </a:r>
            <a:br>
              <a:rPr lang="en-IN" i="1" dirty="0"/>
            </a:br>
            <a:r>
              <a:rPr lang="en-IN" i="1" dirty="0"/>
              <a:t>First: an A/B test — property page split between scarcity, price-rise, and control, with conversion as the primary metric. </a:t>
            </a:r>
            <a:br>
              <a:rPr lang="en-IN" i="1" dirty="0"/>
            </a:br>
            <a:r>
              <a:rPr lang="en-IN" i="1" dirty="0"/>
              <a:t>Second: guardrails on cancellations, refunds, and NPS — if trust metrics regress, auto-kill the treatment. </a:t>
            </a:r>
            <a:br>
              <a:rPr lang="en-IN" i="1" dirty="0"/>
            </a:br>
            <a:r>
              <a:rPr lang="en-IN" i="1" dirty="0"/>
              <a:t>Third: a truth audit — fire the price-rise claim only where it proves accurate above 70% in real-time data. </a:t>
            </a:r>
            <a:br>
              <a:rPr lang="en-IN" i="1" dirty="0"/>
            </a:br>
            <a:r>
              <a:rPr lang="en-IN" i="1" dirty="0"/>
              <a:t>Fourth: </a:t>
            </a:r>
            <a:r>
              <a:rPr lang="en-IN" i="1" dirty="0" err="1"/>
              <a:t>backtest</a:t>
            </a:r>
            <a:r>
              <a:rPr lang="en-IN" i="1" dirty="0"/>
              <a:t> on fresh data before widening beyond the hero segment</a:t>
            </a:r>
            <a:endParaRPr lang="en-IN"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i="1" dirty="0"/>
              <a:t>I want to be upfront about what I assumed and what I couldn't test. On assumptions: I defined weekends as Friday and Saturday based on the pricing premium in the data. I used ADR as a proxy for the price a shopper actually saw - that's reasonable but imperfect. I assumed bookings mean the room was available at that price. And I assumed a nudge can measurably shift conversion - that's the A/B test's job to confirm.</a:t>
            </a:r>
            <a:endParaRPr lang="en-IN" dirty="0"/>
          </a:p>
          <a:p>
            <a:r>
              <a:rPr lang="en-IN" i="1" dirty="0"/>
              <a:t>On limitations: this is realised-bookings data only. I have no quoted prices, no </a:t>
            </a:r>
            <a:r>
              <a:rPr lang="en-IN" i="1" dirty="0" err="1"/>
              <a:t>unbooked</a:t>
            </a:r>
            <a:r>
              <a:rPr lang="en-IN" i="1" dirty="0"/>
              <a:t> sessions, no room type or rate plan, no occupancy or competitor rates. It's one quarter, five cities, 2016. The data that would sharpen everything: daily price quotes per room-night, which would give me a true price-over-time panel; funnel events to measure where in the journey urgency nudges move the needle; and real-time inventory signals. Those gaps are testable — none of them invalidate the core finding, but they'd let us act with more precision.</a:t>
            </a:r>
            <a:endParaRPr lang="en-IN"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That's the full picture. The price-rise premise is false on average, the opportunity is real in targeted segments, and I've outlined a path to prove it commercially before scaling. Happy to dig into any part of this - the model choices, the segmentation logic, the A/B design, or the data assumptions.</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 with Caption">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57200" y="4960138"/>
            <a:ext cx="7772400" cy="1463040"/>
          </a:xfrm>
          <a:prstGeom prst="rect">
            <a:avLst/>
          </a:prstGeom>
          <a:noFill/>
          <a:ln>
            <a:noFill/>
          </a:ln>
        </p:spPr>
        <p:txBody>
          <a:bodyPr spcFirstLastPara="1" wrap="square" lIns="91425" tIns="45700" rIns="91425" bIns="45700" anchor="ctr" anchorCtr="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a:spLocks noGrp="1"/>
          </p:cNvSpPr>
          <p:nvPr>
            <p:ph type="pic" idx="2"/>
          </p:nvPr>
        </p:nvSpPr>
        <p:spPr>
          <a:xfrm>
            <a:off x="0" y="-1"/>
            <a:ext cx="12188952" cy="4572000"/>
          </a:xfrm>
          <a:prstGeom prst="rect">
            <a:avLst/>
          </a:prstGeom>
          <a:solidFill>
            <a:srgbClr val="76CEEF"/>
          </a:solidFill>
          <a:ln>
            <a:noFill/>
          </a:ln>
        </p:spPr>
        <p:txBody>
          <a:bodyPr/>
          <a:lstStyle/>
          <a:p>
            <a:endParaRPr lang="en-IN"/>
          </a:p>
        </p:txBody>
      </p:sp>
      <p:sp>
        <p:nvSpPr>
          <p:cNvPr id="19" name="Google Shape;19;p2"/>
          <p:cNvSpPr txBox="1">
            <a:spLocks noGrp="1"/>
          </p:cNvSpPr>
          <p:nvPr>
            <p:ph type="body" idx="1"/>
          </p:nvPr>
        </p:nvSpPr>
        <p:spPr>
          <a:xfrm>
            <a:off x="8610600" y="4960138"/>
            <a:ext cx="3200400" cy="146304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1800"/>
              <a:buNone/>
              <a:defRPr sz="1800">
                <a:solidFill>
                  <a:srgbClr val="0C0C0C"/>
                </a:solidFill>
              </a:defRPr>
            </a:lvl1pPr>
            <a:lvl2pPr marL="914400" lvl="1" indent="-228600" algn="l">
              <a:lnSpc>
                <a:spcPct val="90000"/>
              </a:lnSpc>
              <a:spcBef>
                <a:spcPts val="200"/>
              </a:spcBef>
              <a:spcAft>
                <a:spcPts val="0"/>
              </a:spcAft>
              <a:buSzPts val="1400"/>
              <a:buNone/>
              <a:defRPr sz="1400"/>
            </a:lvl2pPr>
            <a:lvl3pPr marL="1371600" lvl="2" indent="-228600" algn="l">
              <a:lnSpc>
                <a:spcPct val="90000"/>
              </a:lnSpc>
              <a:spcBef>
                <a:spcPts val="400"/>
              </a:spcBef>
              <a:spcAft>
                <a:spcPts val="0"/>
              </a:spcAft>
              <a:buSzPts val="1200"/>
              <a:buNone/>
              <a:defRPr sz="1200"/>
            </a:lvl3pPr>
            <a:lvl4pPr marL="1828800" lvl="3" indent="-228600" algn="l">
              <a:lnSpc>
                <a:spcPct val="90000"/>
              </a:lnSpc>
              <a:spcBef>
                <a:spcPts val="400"/>
              </a:spcBef>
              <a:spcAft>
                <a:spcPts val="0"/>
              </a:spcAft>
              <a:buSzPts val="1000"/>
              <a:buNone/>
              <a:defRPr sz="1000"/>
            </a:lvl4pPr>
            <a:lvl5pPr marL="2286000" lvl="4" indent="-228600" algn="l">
              <a:lnSpc>
                <a:spcPct val="90000"/>
              </a:lnSpc>
              <a:spcBef>
                <a:spcPts val="400"/>
              </a:spcBef>
              <a:spcAft>
                <a:spcPts val="0"/>
              </a:spcAft>
              <a:buSzPts val="1000"/>
              <a:buNone/>
              <a:defRPr sz="1000"/>
            </a:lvl5pPr>
            <a:lvl6pPr marL="2743200" lvl="5" indent="-228600" algn="l">
              <a:lnSpc>
                <a:spcPct val="90000"/>
              </a:lnSpc>
              <a:spcBef>
                <a:spcPts val="400"/>
              </a:spcBef>
              <a:spcAft>
                <a:spcPts val="0"/>
              </a:spcAft>
              <a:buSzPts val="1000"/>
              <a:buNone/>
              <a:defRPr sz="1000"/>
            </a:lvl6pPr>
            <a:lvl7pPr marL="3200400" lvl="6" indent="-228600" algn="l">
              <a:lnSpc>
                <a:spcPct val="90000"/>
              </a:lnSpc>
              <a:spcBef>
                <a:spcPts val="400"/>
              </a:spcBef>
              <a:spcAft>
                <a:spcPts val="0"/>
              </a:spcAft>
              <a:buSzPts val="1000"/>
              <a:buNone/>
              <a:defRPr sz="1000"/>
            </a:lvl7pPr>
            <a:lvl8pPr marL="3657600" lvl="7" indent="-228600" algn="l">
              <a:lnSpc>
                <a:spcPct val="90000"/>
              </a:lnSpc>
              <a:spcBef>
                <a:spcPts val="400"/>
              </a:spcBef>
              <a:spcAft>
                <a:spcPts val="0"/>
              </a:spcAft>
              <a:buSzPts val="1000"/>
              <a:buNone/>
              <a:defRPr sz="1000"/>
            </a:lvl8pPr>
            <a:lvl9pPr marL="4114800" lvl="8" indent="-228600" algn="l">
              <a:lnSpc>
                <a:spcPct val="90000"/>
              </a:lnSpc>
              <a:spcBef>
                <a:spcPts val="400"/>
              </a:spcBef>
              <a:spcAft>
                <a:spcPts val="400"/>
              </a:spcAft>
              <a:buSzPts val="1000"/>
              <a:buNone/>
              <a:defRPr sz="1000"/>
            </a:lvl9pPr>
          </a:lstStyle>
          <a:p>
            <a:endParaRPr/>
          </a:p>
        </p:txBody>
      </p:sp>
      <p:sp>
        <p:nvSpPr>
          <p:cNvPr id="20" name="Google Shape;20;p2"/>
          <p:cNvSpPr txBox="1">
            <a:spLocks noGrp="1"/>
          </p:cNvSpPr>
          <p:nvPr>
            <p:ph type="dt" idx="10"/>
          </p:nvPr>
        </p:nvSpPr>
        <p:spPr>
          <a:xfrm>
            <a:off x="1024129" y="6470704"/>
            <a:ext cx="2154143"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4842932" y="6470704"/>
            <a:ext cx="5901459"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10837333" y="6470704"/>
            <a:ext cx="973667"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23" name="Google Shape;23;p2"/>
          <p:cNvCxnSpPr/>
          <p:nvPr/>
        </p:nvCxnSpPr>
        <p:spPr>
          <a:xfrm rot="10800000">
            <a:off x="8386843" y="5264106"/>
            <a:ext cx="0" cy="914400"/>
          </a:xfrm>
          <a:prstGeom prst="straightConnector1">
            <a:avLst/>
          </a:prstGeom>
          <a:noFill/>
          <a:ln w="19050"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21759053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6.gif"/><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gif"/></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gif"/></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gif"/><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gif"/><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gif"/></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gif"/><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6.gif"/><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6.gif"/><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3" name="Google Shape;163;p18"/>
          <p:cNvSpPr txBox="1">
            <a:spLocks noGrp="1"/>
          </p:cNvSpPr>
          <p:nvPr>
            <p:ph type="body" idx="1"/>
          </p:nvPr>
        </p:nvSpPr>
        <p:spPr>
          <a:xfrm>
            <a:off x="5512146" y="2225333"/>
            <a:ext cx="6329749" cy="64629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SzPts val="3600"/>
              <a:buNone/>
            </a:pPr>
            <a:r>
              <a:rPr lang="en-US" sz="3600" b="1" dirty="0">
                <a:solidFill>
                  <a:schemeClr val="tx1"/>
                </a:solidFill>
                <a:latin typeface="Calibri" panose="020F0502020204030204" pitchFamily="34" charset="0"/>
                <a:ea typeface="Calibri" panose="020F0502020204030204" pitchFamily="34" charset="0"/>
                <a:cs typeface="Calibri" panose="020F0502020204030204" pitchFamily="34" charset="0"/>
                <a:sym typeface="Twentieth Century"/>
              </a:rPr>
              <a:t>THE URGENCY MESSAGE</a:t>
            </a:r>
            <a:endParaRPr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4" name="Google Shape;164;p18"/>
          <p:cNvSpPr txBox="1"/>
          <p:nvPr/>
        </p:nvSpPr>
        <p:spPr>
          <a:xfrm>
            <a:off x="8610600" y="5430048"/>
            <a:ext cx="302278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Twentieth Century"/>
              </a:rPr>
              <a:t>ABHISHEK RAJ</a:t>
            </a:r>
            <a:endParaRPr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A05CB7D3-4E10-DEFC-CB51-BEFD9B37A3CC}"/>
              </a:ext>
            </a:extLst>
          </p:cNvPr>
          <p:cNvPicPr>
            <a:picLocks noChangeAspect="1"/>
          </p:cNvPicPr>
          <p:nvPr/>
        </p:nvPicPr>
        <p:blipFill>
          <a:blip r:embed="rId3"/>
          <a:stretch>
            <a:fillRect/>
          </a:stretch>
        </p:blipFill>
        <p:spPr>
          <a:xfrm>
            <a:off x="0" y="167228"/>
            <a:ext cx="4762500" cy="4762500"/>
          </a:xfrm>
          <a:prstGeom prst="rect">
            <a:avLst/>
          </a:prstGeom>
        </p:spPr>
      </p:pic>
      <p:sp>
        <p:nvSpPr>
          <p:cNvPr id="6" name="Shape 27">
            <a:extLst>
              <a:ext uri="{FF2B5EF4-FFF2-40B4-BE49-F238E27FC236}">
                <a16:creationId xmlns:a16="http://schemas.microsoft.com/office/drawing/2014/main" id="{A1C1CCF6-082A-9731-D20A-169B39163DD2}"/>
              </a:ext>
            </a:extLst>
          </p:cNvPr>
          <p:cNvSpPr/>
          <p:nvPr/>
        </p:nvSpPr>
        <p:spPr>
          <a:xfrm>
            <a:off x="5116286" y="1363907"/>
            <a:ext cx="158949" cy="2669613"/>
          </a:xfrm>
          <a:prstGeom prst="rect">
            <a:avLst/>
          </a:prstGeom>
          <a:solidFill>
            <a:srgbClr val="22D3EE"/>
          </a:solidFill>
          <a:ln/>
        </p:spPr>
        <p:txBody>
          <a:bodyPr/>
          <a:lstStyle/>
          <a:p>
            <a:endParaRPr lang="en-IN"/>
          </a:p>
        </p:txBody>
      </p:sp>
      <p:sp>
        <p:nvSpPr>
          <p:cNvPr id="8" name="TextBox 7">
            <a:extLst>
              <a:ext uri="{FF2B5EF4-FFF2-40B4-BE49-F238E27FC236}">
                <a16:creationId xmlns:a16="http://schemas.microsoft.com/office/drawing/2014/main" id="{282E33AA-FDFA-B7FA-C945-00306B20A25D}"/>
              </a:ext>
            </a:extLst>
          </p:cNvPr>
          <p:cNvSpPr txBox="1"/>
          <p:nvPr/>
        </p:nvSpPr>
        <p:spPr>
          <a:xfrm>
            <a:off x="5391966" y="3179871"/>
            <a:ext cx="6723832" cy="646331"/>
          </a:xfrm>
          <a:prstGeom prst="rect">
            <a:avLst/>
          </a:prstGeom>
          <a:noFill/>
        </p:spPr>
        <p:txBody>
          <a:bodyPr wrap="square">
            <a:spAutoFit/>
          </a:bodyPr>
          <a:lstStyle>
            <a:defPPr marR="0" lvl="0" algn="l" rtl="0">
              <a:lnSpc>
                <a:spcPct val="100000"/>
              </a:lnSpc>
              <a:spcBef>
                <a:spcPts val="0"/>
              </a:spcBef>
              <a:spcAft>
                <a:spcPts val="0"/>
              </a:spcAft>
            </a:defPPr>
            <a:lvl1pPr indent="0">
              <a:buNone/>
              <a:defRPr b="1" kern="0" spc="300">
                <a:solidFill>
                  <a:srgbClr val="1FA8C9"/>
                </a:solidFill>
                <a:latin typeface="Calibri" pitchFamily="34" charset="0"/>
                <a:ea typeface="Calibri" pitchFamily="34" charset="-122"/>
                <a:cs typeface="Calibri" pitchFamily="34" charset="-120"/>
              </a:defRPr>
            </a:lvl1pPr>
            <a:lvl2pPr marL="914400" indent="-228600">
              <a:lnSpc>
                <a:spcPct val="90000"/>
              </a:lnSpc>
              <a:spcBef>
                <a:spcPts val="200"/>
              </a:spcBef>
              <a:buClr>
                <a:schemeClr val="accent1"/>
              </a:buClr>
              <a:buSzPts val="1400"/>
              <a:buFont typeface="Noto Sans Symbols"/>
              <a:buNone/>
              <a:defRPr>
                <a:solidFill>
                  <a:schemeClr val="dk1"/>
                </a:solidFill>
                <a:latin typeface="Twentieth Century"/>
                <a:ea typeface="Twentieth Century"/>
                <a:cs typeface="Twentieth Century"/>
                <a:sym typeface="Twentieth Century"/>
              </a:defRPr>
            </a:lvl2pPr>
            <a:lvl3pPr marL="1371600" indent="-228600">
              <a:lnSpc>
                <a:spcPct val="90000"/>
              </a:lnSpc>
              <a:spcBef>
                <a:spcPts val="400"/>
              </a:spcBef>
              <a:buClr>
                <a:schemeClr val="accent1"/>
              </a:buClr>
              <a:buSzPts val="1200"/>
              <a:buFont typeface="Noto Sans Symbols"/>
              <a:buNone/>
              <a:defRPr sz="1200">
                <a:solidFill>
                  <a:schemeClr val="dk1"/>
                </a:solidFill>
                <a:latin typeface="Twentieth Century"/>
                <a:ea typeface="Twentieth Century"/>
                <a:cs typeface="Twentieth Century"/>
                <a:sym typeface="Twentieth Century"/>
              </a:defRPr>
            </a:lvl3pPr>
            <a:lvl4pPr marL="1828800" indent="-228600">
              <a:lnSpc>
                <a:spcPct val="90000"/>
              </a:lnSpc>
              <a:spcBef>
                <a:spcPts val="400"/>
              </a:spcBef>
              <a:buClr>
                <a:schemeClr val="accent1"/>
              </a:buClr>
              <a:buSzPts val="1000"/>
              <a:buFont typeface="Noto Sans Symbols"/>
              <a:buNone/>
              <a:defRPr sz="1000">
                <a:solidFill>
                  <a:schemeClr val="dk1"/>
                </a:solidFill>
                <a:latin typeface="Twentieth Century"/>
                <a:ea typeface="Twentieth Century"/>
                <a:cs typeface="Twentieth Century"/>
                <a:sym typeface="Twentieth Century"/>
              </a:defRPr>
            </a:lvl4pPr>
            <a:lvl5pPr marL="2286000" indent="-228600">
              <a:lnSpc>
                <a:spcPct val="90000"/>
              </a:lnSpc>
              <a:spcBef>
                <a:spcPts val="400"/>
              </a:spcBef>
              <a:buClr>
                <a:schemeClr val="accent1"/>
              </a:buClr>
              <a:buSzPts val="1000"/>
              <a:buFont typeface="Noto Sans Symbols"/>
              <a:buNone/>
              <a:defRPr sz="1000">
                <a:solidFill>
                  <a:schemeClr val="dk1"/>
                </a:solidFill>
                <a:latin typeface="Twentieth Century"/>
                <a:ea typeface="Twentieth Century"/>
                <a:cs typeface="Twentieth Century"/>
                <a:sym typeface="Twentieth Century"/>
              </a:defRPr>
            </a:lvl5pPr>
            <a:lvl6pPr marL="2743200" indent="-228600">
              <a:lnSpc>
                <a:spcPct val="90000"/>
              </a:lnSpc>
              <a:spcBef>
                <a:spcPts val="400"/>
              </a:spcBef>
              <a:buClr>
                <a:schemeClr val="accent1"/>
              </a:buClr>
              <a:buSzPts val="1000"/>
              <a:buFont typeface="Noto Sans Symbols"/>
              <a:buNone/>
              <a:defRPr sz="1000">
                <a:solidFill>
                  <a:schemeClr val="dk1"/>
                </a:solidFill>
                <a:latin typeface="Twentieth Century"/>
                <a:ea typeface="Twentieth Century"/>
                <a:cs typeface="Twentieth Century"/>
                <a:sym typeface="Twentieth Century"/>
              </a:defRPr>
            </a:lvl6pPr>
            <a:lvl7pPr marL="3200400" indent="-228600">
              <a:lnSpc>
                <a:spcPct val="90000"/>
              </a:lnSpc>
              <a:spcBef>
                <a:spcPts val="400"/>
              </a:spcBef>
              <a:buClr>
                <a:schemeClr val="accent1"/>
              </a:buClr>
              <a:buSzPts val="1000"/>
              <a:buFont typeface="Noto Sans Symbols"/>
              <a:buNone/>
              <a:defRPr sz="1000">
                <a:solidFill>
                  <a:schemeClr val="dk1"/>
                </a:solidFill>
                <a:latin typeface="Twentieth Century"/>
                <a:ea typeface="Twentieth Century"/>
                <a:cs typeface="Twentieth Century"/>
                <a:sym typeface="Twentieth Century"/>
              </a:defRPr>
            </a:lvl7pPr>
            <a:lvl8pPr marL="3657600" indent="-228600">
              <a:lnSpc>
                <a:spcPct val="90000"/>
              </a:lnSpc>
              <a:spcBef>
                <a:spcPts val="400"/>
              </a:spcBef>
              <a:buClr>
                <a:schemeClr val="accent1"/>
              </a:buClr>
              <a:buSzPts val="1000"/>
              <a:buFont typeface="Noto Sans Symbols"/>
              <a:buNone/>
              <a:defRPr sz="1000">
                <a:solidFill>
                  <a:schemeClr val="dk1"/>
                </a:solidFill>
                <a:latin typeface="Twentieth Century"/>
                <a:ea typeface="Twentieth Century"/>
                <a:cs typeface="Twentieth Century"/>
                <a:sym typeface="Twentieth Century"/>
              </a:defRPr>
            </a:lvl8pPr>
            <a:lvl9pPr marL="4114800" indent="-228600">
              <a:lnSpc>
                <a:spcPct val="90000"/>
              </a:lnSpc>
              <a:spcBef>
                <a:spcPts val="400"/>
              </a:spcBef>
              <a:spcAft>
                <a:spcPts val="400"/>
              </a:spcAft>
              <a:buClr>
                <a:schemeClr val="accent1"/>
              </a:buClr>
              <a:buSzPts val="1000"/>
              <a:buFont typeface="Noto Sans Symbols"/>
              <a:buNone/>
              <a:defRPr sz="1000">
                <a:solidFill>
                  <a:schemeClr val="dk1"/>
                </a:solidFill>
                <a:latin typeface="Twentieth Century"/>
                <a:ea typeface="Twentieth Century"/>
                <a:cs typeface="Twentieth Century"/>
                <a:sym typeface="Twentieth Century"/>
              </a:defRPr>
            </a:lvl9pPr>
          </a:lstStyle>
          <a:p>
            <a:r>
              <a:rPr lang="en-US" dirty="0"/>
              <a:t>Do hotel prices really rise as check-in approaches &amp; where should an urgency nudge be?</a:t>
            </a:r>
          </a:p>
        </p:txBody>
      </p:sp>
      <p:sp>
        <p:nvSpPr>
          <p:cNvPr id="9" name="Text 31">
            <a:extLst>
              <a:ext uri="{FF2B5EF4-FFF2-40B4-BE49-F238E27FC236}">
                <a16:creationId xmlns:a16="http://schemas.microsoft.com/office/drawing/2014/main" id="{CD27F16D-97BF-6B9B-FDD4-E19B370AC588}"/>
              </a:ext>
            </a:extLst>
          </p:cNvPr>
          <p:cNvSpPr/>
          <p:nvPr/>
        </p:nvSpPr>
        <p:spPr>
          <a:xfrm>
            <a:off x="185422" y="5257328"/>
            <a:ext cx="1694178"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000" b="1" dirty="0">
                <a:solidFill>
                  <a:srgbClr val="FF9900"/>
                </a:solidFill>
                <a:latin typeface="Calibri" pitchFamily="34" charset="0"/>
                <a:ea typeface="Calibri" pitchFamily="34" charset="-122"/>
                <a:cs typeface="Calibri" pitchFamily="34" charset="-120"/>
                <a:sym typeface="Twentieth Century"/>
              </a:rPr>
              <a:t>49,061</a:t>
            </a:r>
          </a:p>
        </p:txBody>
      </p:sp>
      <p:sp>
        <p:nvSpPr>
          <p:cNvPr id="10" name="Text 32">
            <a:extLst>
              <a:ext uri="{FF2B5EF4-FFF2-40B4-BE49-F238E27FC236}">
                <a16:creationId xmlns:a16="http://schemas.microsoft.com/office/drawing/2014/main" id="{D9679D2E-A63A-7235-AB54-9EB938102274}"/>
              </a:ext>
            </a:extLst>
          </p:cNvPr>
          <p:cNvSpPr/>
          <p:nvPr/>
        </p:nvSpPr>
        <p:spPr>
          <a:xfrm>
            <a:off x="185422" y="5851688"/>
            <a:ext cx="1785618"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latin typeface="Calibri" panose="020F0502020204030204" pitchFamily="34" charset="0"/>
                <a:ea typeface="Calibri" panose="020F0502020204030204" pitchFamily="34" charset="0"/>
                <a:cs typeface="Calibri" panose="020F0502020204030204" pitchFamily="34" charset="0"/>
              </a:rPr>
              <a:t>Bookings Analyzed</a:t>
            </a:r>
          </a:p>
        </p:txBody>
      </p:sp>
      <p:sp>
        <p:nvSpPr>
          <p:cNvPr id="11" name="Text 33">
            <a:extLst>
              <a:ext uri="{FF2B5EF4-FFF2-40B4-BE49-F238E27FC236}">
                <a16:creationId xmlns:a16="http://schemas.microsoft.com/office/drawing/2014/main" id="{4B4390C5-BB91-41F0-310A-70CD40D25123}"/>
              </a:ext>
            </a:extLst>
          </p:cNvPr>
          <p:cNvSpPr/>
          <p:nvPr/>
        </p:nvSpPr>
        <p:spPr>
          <a:xfrm>
            <a:off x="3167382" y="5257328"/>
            <a:ext cx="1410424"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000" b="1" dirty="0">
                <a:solidFill>
                  <a:srgbClr val="FF9900"/>
                </a:solidFill>
                <a:latin typeface="Calibri" pitchFamily="34" charset="0"/>
                <a:ea typeface="Calibri" pitchFamily="34" charset="-122"/>
                <a:cs typeface="Calibri" pitchFamily="34" charset="-120"/>
              </a:rPr>
              <a:t>5 cities</a:t>
            </a:r>
          </a:p>
        </p:txBody>
      </p:sp>
      <p:sp>
        <p:nvSpPr>
          <p:cNvPr id="12" name="Text 34">
            <a:extLst>
              <a:ext uri="{FF2B5EF4-FFF2-40B4-BE49-F238E27FC236}">
                <a16:creationId xmlns:a16="http://schemas.microsoft.com/office/drawing/2014/main" id="{FE93CC37-D3D6-0CA3-B31B-4588A864BE0E}"/>
              </a:ext>
            </a:extLst>
          </p:cNvPr>
          <p:cNvSpPr/>
          <p:nvPr/>
        </p:nvSpPr>
        <p:spPr>
          <a:xfrm>
            <a:off x="2625999" y="5851688"/>
            <a:ext cx="2712901"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dirty="0">
                <a:latin typeface="Calibri" panose="020F0502020204030204" pitchFamily="34" charset="0"/>
                <a:ea typeface="Calibri" panose="020F0502020204030204" pitchFamily="34" charset="0"/>
                <a:cs typeface="Calibri" panose="020F0502020204030204" pitchFamily="34" charset="0"/>
              </a:rPr>
              <a:t>Q4 | Oct-Dec 2016, 880 hotels</a:t>
            </a:r>
          </a:p>
        </p:txBody>
      </p:sp>
      <p:sp>
        <p:nvSpPr>
          <p:cNvPr id="4" name="TextBox 3">
            <a:extLst>
              <a:ext uri="{FF2B5EF4-FFF2-40B4-BE49-F238E27FC236}">
                <a16:creationId xmlns:a16="http://schemas.microsoft.com/office/drawing/2014/main" id="{AE3D86B8-D023-9266-C5BB-C006AC3CCA8F}"/>
              </a:ext>
            </a:extLst>
          </p:cNvPr>
          <p:cNvSpPr txBox="1"/>
          <p:nvPr/>
        </p:nvSpPr>
        <p:spPr>
          <a:xfrm>
            <a:off x="5629021" y="1399151"/>
            <a:ext cx="6096000" cy="369332"/>
          </a:xfrm>
          <a:prstGeom prst="rect">
            <a:avLst/>
          </a:prstGeom>
          <a:noFill/>
        </p:spPr>
        <p:txBody>
          <a:bodyPr wrap="square">
            <a:spAutoFit/>
          </a:bodyPr>
          <a:lstStyle/>
          <a:p>
            <a:pPr marL="0" indent="0">
              <a:buNone/>
            </a:pPr>
            <a:r>
              <a:rPr lang="en-US" sz="1800" b="1" kern="0" spc="300" dirty="0">
                <a:solidFill>
                  <a:srgbClr val="1FA8C9"/>
                </a:solidFill>
                <a:latin typeface="Calibri" pitchFamily="34" charset="0"/>
                <a:ea typeface="Calibri" pitchFamily="34" charset="-122"/>
                <a:cs typeface="Calibri" pitchFamily="34" charset="-120"/>
              </a:rPr>
              <a:t>AGODA  ·  SUPPLY ANALYTICS CASE STUDY</a:t>
            </a:r>
            <a:endParaRPr lang="en-US" sz="1800" dirty="0"/>
          </a:p>
        </p:txBody>
      </p:sp>
      <p:sp>
        <p:nvSpPr>
          <p:cNvPr id="5" name="Text 10">
            <a:extLst>
              <a:ext uri="{FF2B5EF4-FFF2-40B4-BE49-F238E27FC236}">
                <a16:creationId xmlns:a16="http://schemas.microsoft.com/office/drawing/2014/main" id="{6E1E987C-DF2E-E5BB-8304-464DA4CBBD33}"/>
              </a:ext>
            </a:extLst>
          </p:cNvPr>
          <p:cNvSpPr/>
          <p:nvPr/>
        </p:nvSpPr>
        <p:spPr>
          <a:xfrm>
            <a:off x="5856697" y="5257328"/>
            <a:ext cx="1915703" cy="548640"/>
          </a:xfrm>
          <a:prstGeom prst="rect">
            <a:avLst/>
          </a:prstGeom>
          <a:noFill/>
          <a:ln/>
        </p:spPr>
        <p:txBody>
          <a:bodyPr wrap="square" lIns="0" tIns="0" rIns="0" bIns="0" rtlCol="0" anchor="ctr"/>
          <a:lstStyle/>
          <a:p>
            <a:pPr marL="0" indent="0" algn="ctr">
              <a:buNone/>
            </a:pPr>
            <a:r>
              <a:rPr lang="en-US" sz="3000" b="1" dirty="0">
                <a:solidFill>
                  <a:srgbClr val="FF9900"/>
                </a:solidFill>
                <a:latin typeface="Calibri" pitchFamily="34" charset="0"/>
                <a:ea typeface="Calibri" pitchFamily="34" charset="-122"/>
                <a:cs typeface="Calibri" pitchFamily="34" charset="-120"/>
              </a:rPr>
              <a:t>~ 0</a:t>
            </a:r>
            <a:endParaRPr lang="en-US" sz="3000" dirty="0"/>
          </a:p>
        </p:txBody>
      </p:sp>
      <p:sp>
        <p:nvSpPr>
          <p:cNvPr id="7" name="Text 11">
            <a:extLst>
              <a:ext uri="{FF2B5EF4-FFF2-40B4-BE49-F238E27FC236}">
                <a16:creationId xmlns:a16="http://schemas.microsoft.com/office/drawing/2014/main" id="{911CDC93-03DD-3B5D-B789-D28E32AA853A}"/>
              </a:ext>
            </a:extLst>
          </p:cNvPr>
          <p:cNvSpPr/>
          <p:nvPr/>
        </p:nvSpPr>
        <p:spPr>
          <a:xfrm>
            <a:off x="5725887" y="5851688"/>
            <a:ext cx="2422434" cy="457200"/>
          </a:xfrm>
          <a:prstGeom prst="rect">
            <a:avLst/>
          </a:prstGeom>
          <a:noFill/>
          <a:ln/>
        </p:spPr>
        <p:txBody>
          <a:bodyPr wrap="square" lIns="0" tIns="0" rIns="0" bIns="0" rtlCol="0" anchor="ctr"/>
          <a:lstStyle/>
          <a:p>
            <a:pPr algn="ctr"/>
            <a:r>
              <a:rPr lang="en-US" sz="1600" b="1" dirty="0">
                <a:latin typeface="Calibri" panose="020F0502020204030204" pitchFamily="34" charset="0"/>
                <a:ea typeface="Calibri" panose="020F0502020204030204" pitchFamily="34" charset="0"/>
                <a:cs typeface="Calibri" panose="020F0502020204030204" pitchFamily="34" charset="0"/>
              </a:rPr>
              <a:t>Real price trend to check-in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marL="0" indent="0">
              <a:buNone/>
            </a:pPr>
            <a:r>
              <a:rPr lang="en-US" sz="1200" b="1" kern="0" spc="200" dirty="0">
                <a:solidFill>
                  <a:srgbClr val="2B5CE6"/>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C2233"/>
                </a:solidFill>
                <a:latin typeface="Calibri" pitchFamily="34" charset="0"/>
                <a:ea typeface="Calibri" pitchFamily="34" charset="-122"/>
                <a:cs typeface="Calibri" pitchFamily="34" charset="-120"/>
              </a:rPr>
              <a:t>The answer, before the journey</a:t>
            </a:r>
            <a:endParaRPr lang="en-US" sz="3200" dirty="0"/>
          </a:p>
        </p:txBody>
      </p:sp>
      <p:sp>
        <p:nvSpPr>
          <p:cNvPr id="4" name="Text 2"/>
          <p:cNvSpPr/>
          <p:nvPr/>
        </p:nvSpPr>
        <p:spPr>
          <a:xfrm>
            <a:off x="566928" y="1508760"/>
            <a:ext cx="11064240" cy="457200"/>
          </a:xfrm>
          <a:prstGeom prst="rect">
            <a:avLst/>
          </a:prstGeom>
          <a:noFill/>
          <a:ln/>
        </p:spPr>
        <p:txBody>
          <a:bodyPr wrap="square" lIns="0" tIns="0" rIns="0" bIns="0" rtlCol="0" anchor="ctr"/>
          <a:lstStyle/>
          <a:p>
            <a:pPr marL="0" indent="0">
              <a:buNone/>
            </a:pPr>
            <a:r>
              <a:rPr lang="en-US" sz="1500" i="1" dirty="0">
                <a:solidFill>
                  <a:srgbClr val="2B5CE6"/>
                </a:solidFill>
                <a:latin typeface="Calibri Light" pitchFamily="34" charset="0"/>
                <a:ea typeface="Calibri Light" pitchFamily="34" charset="-122"/>
                <a:cs typeface="Calibri Light" pitchFamily="34" charset="-120"/>
              </a:rPr>
              <a:t>What I found, what it means, and what to do about it.</a:t>
            </a:r>
            <a:endParaRPr lang="en-US" sz="1500" dirty="0"/>
          </a:p>
        </p:txBody>
      </p:sp>
      <p:sp>
        <p:nvSpPr>
          <p:cNvPr id="5" name="Shape 3"/>
          <p:cNvSpPr/>
          <p:nvPr/>
        </p:nvSpPr>
        <p:spPr>
          <a:xfrm>
            <a:off x="548640" y="2103120"/>
            <a:ext cx="11064240" cy="914400"/>
          </a:xfrm>
          <a:prstGeom prst="rect">
            <a:avLst/>
          </a:prstGeom>
          <a:solidFill>
            <a:srgbClr val="F4F6FB"/>
          </a:solidFill>
          <a:ln/>
        </p:spPr>
        <p:txBody>
          <a:bodyPr/>
          <a:lstStyle/>
          <a:p>
            <a:endParaRPr lang="en-IN"/>
          </a:p>
        </p:txBody>
      </p:sp>
      <p:sp>
        <p:nvSpPr>
          <p:cNvPr id="6" name="Shape 4"/>
          <p:cNvSpPr/>
          <p:nvPr/>
        </p:nvSpPr>
        <p:spPr>
          <a:xfrm>
            <a:off x="548640" y="2103120"/>
            <a:ext cx="109728" cy="914400"/>
          </a:xfrm>
          <a:prstGeom prst="rect">
            <a:avLst/>
          </a:prstGeom>
          <a:solidFill>
            <a:srgbClr val="E5326E"/>
          </a:solidFill>
          <a:ln/>
        </p:spPr>
        <p:txBody>
          <a:bodyPr/>
          <a:lstStyle/>
          <a:p>
            <a:endParaRPr lang="en-IN"/>
          </a:p>
        </p:txBody>
      </p:sp>
      <p:sp>
        <p:nvSpPr>
          <p:cNvPr id="7" name="Text 5"/>
          <p:cNvSpPr/>
          <p:nvPr/>
        </p:nvSpPr>
        <p:spPr>
          <a:xfrm>
            <a:off x="868680" y="2139696"/>
            <a:ext cx="10515600" cy="868680"/>
          </a:xfrm>
          <a:prstGeom prst="rect">
            <a:avLst/>
          </a:prstGeom>
          <a:noFill/>
          <a:ln/>
        </p:spPr>
        <p:txBody>
          <a:bodyPr wrap="square" lIns="0" tIns="0" rIns="0" bIns="0" rtlCol="0" anchor="ctr"/>
          <a:lstStyle/>
          <a:p>
            <a:pPr>
              <a:lnSpc>
                <a:spcPct val="108000"/>
              </a:lnSpc>
            </a:pPr>
            <a:r>
              <a:rPr lang="en-US" sz="1450" b="1" dirty="0">
                <a:solidFill>
                  <a:srgbClr val="E5326E"/>
                </a:solidFill>
                <a:latin typeface="Calibri" pitchFamily="34" charset="0"/>
                <a:ea typeface="Calibri" pitchFamily="34" charset="-122"/>
                <a:cs typeface="Calibri" pitchFamily="34" charset="-120"/>
              </a:rPr>
              <a:t>Bottom line: </a:t>
            </a:r>
            <a:r>
              <a:rPr lang="en-US" sz="1400" dirty="0">
                <a:solidFill>
                  <a:srgbClr val="1C2233"/>
                </a:solidFill>
                <a:latin typeface="Calibri" pitchFamily="34" charset="0"/>
                <a:ea typeface="Calibri" pitchFamily="34" charset="-122"/>
                <a:cs typeface="Calibri" pitchFamily="34" charset="-120"/>
              </a:rPr>
              <a:t>Hotel prices do not systematically rise as the check-in date approaches, the apparent 39.5% move is selection bias. So, urgency messaging should be honest and targeted : price-rise only where the data backs it.</a:t>
            </a:r>
            <a:endParaRPr lang="en-US" sz="1450" dirty="0"/>
          </a:p>
        </p:txBody>
      </p:sp>
      <p:sp>
        <p:nvSpPr>
          <p:cNvPr id="8" name="Shape 6"/>
          <p:cNvSpPr/>
          <p:nvPr/>
        </p:nvSpPr>
        <p:spPr>
          <a:xfrm>
            <a:off x="548640" y="3291840"/>
            <a:ext cx="2715768" cy="2743200"/>
          </a:xfrm>
          <a:prstGeom prst="rect">
            <a:avLst/>
          </a:prstGeom>
          <a:solidFill>
            <a:srgbClr val="F4F6FB"/>
          </a:solidFill>
          <a:ln/>
        </p:spPr>
        <p:txBody>
          <a:bodyPr/>
          <a:lstStyle/>
          <a:p>
            <a:endParaRPr lang="en-IN"/>
          </a:p>
        </p:txBody>
      </p:sp>
      <p:sp>
        <p:nvSpPr>
          <p:cNvPr id="9" name="Shape 7"/>
          <p:cNvSpPr/>
          <p:nvPr/>
        </p:nvSpPr>
        <p:spPr>
          <a:xfrm>
            <a:off x="804672" y="3566160"/>
            <a:ext cx="548640" cy="548640"/>
          </a:xfrm>
          <a:prstGeom prst="ellipse">
            <a:avLst/>
          </a:prstGeom>
          <a:solidFill>
            <a:srgbClr val="FFFFFF"/>
          </a:solidFill>
          <a:ln w="12700">
            <a:solidFill>
              <a:srgbClr val="2B5CE6"/>
            </a:solidFill>
            <a:prstDash val="solid"/>
          </a:ln>
        </p:spPr>
        <p:txBody>
          <a:bodyPr/>
          <a:lstStyle/>
          <a:p>
            <a:endParaRPr lang="en-IN"/>
          </a:p>
        </p:txBody>
      </p:sp>
      <p:pic>
        <p:nvPicPr>
          <p:cNvPr id="10" name="Image 0" descr="preencoded.png"/>
          <p:cNvPicPr>
            <a:picLocks noChangeAspect="1"/>
          </p:cNvPicPr>
          <p:nvPr/>
        </p:nvPicPr>
        <p:blipFill>
          <a:blip r:embed="rId3"/>
          <a:stretch>
            <a:fillRect/>
          </a:stretch>
        </p:blipFill>
        <p:spPr>
          <a:xfrm>
            <a:off x="914400" y="3675888"/>
            <a:ext cx="329184" cy="329184"/>
          </a:xfrm>
          <a:prstGeom prst="rect">
            <a:avLst/>
          </a:prstGeom>
        </p:spPr>
      </p:pic>
      <p:sp>
        <p:nvSpPr>
          <p:cNvPr id="11" name="Text 8"/>
          <p:cNvSpPr/>
          <p:nvPr/>
        </p:nvSpPr>
        <p:spPr>
          <a:xfrm>
            <a:off x="804672" y="4251960"/>
            <a:ext cx="2258568" cy="457200"/>
          </a:xfrm>
          <a:prstGeom prst="rect">
            <a:avLst/>
          </a:prstGeom>
          <a:noFill/>
          <a:ln/>
        </p:spPr>
        <p:txBody>
          <a:bodyPr wrap="square" lIns="0" tIns="0" rIns="0" bIns="0" rtlCol="0" anchor="ctr"/>
          <a:lstStyle/>
          <a:p>
            <a:pPr marL="0" indent="0">
              <a:buNone/>
            </a:pPr>
            <a:r>
              <a:rPr lang="en-US" sz="1450" b="1" dirty="0">
                <a:solidFill>
                  <a:srgbClr val="1C2233"/>
                </a:solidFill>
                <a:latin typeface="Calibri" pitchFamily="34" charset="0"/>
                <a:ea typeface="Calibri" pitchFamily="34" charset="-122"/>
                <a:cs typeface="Calibri" pitchFamily="34" charset="-120"/>
              </a:rPr>
              <a:t>What I tested</a:t>
            </a:r>
            <a:endParaRPr lang="en-US" sz="1450" dirty="0"/>
          </a:p>
        </p:txBody>
      </p:sp>
      <p:sp>
        <p:nvSpPr>
          <p:cNvPr id="12" name="Text 9"/>
          <p:cNvSpPr/>
          <p:nvPr/>
        </p:nvSpPr>
        <p:spPr>
          <a:xfrm>
            <a:off x="804672" y="4709160"/>
            <a:ext cx="2240280" cy="1188720"/>
          </a:xfrm>
          <a:prstGeom prst="rect">
            <a:avLst/>
          </a:prstGeom>
          <a:noFill/>
          <a:ln/>
        </p:spPr>
        <p:txBody>
          <a:bodyPr wrap="square" lIns="0" tIns="0" rIns="0" bIns="0" rtlCol="0" anchor="ctr"/>
          <a:lstStyle/>
          <a:p>
            <a:pPr marL="0" indent="0">
              <a:lnSpc>
                <a:spcPct val="108000"/>
              </a:lnSpc>
              <a:buNone/>
            </a:pPr>
            <a:r>
              <a:rPr lang="en-US" sz="1150" dirty="0">
                <a:solidFill>
                  <a:srgbClr val="64748B"/>
                </a:solidFill>
                <a:latin typeface="Calibri" pitchFamily="34" charset="0"/>
                <a:ea typeface="Calibri" pitchFamily="34" charset="-122"/>
                <a:cs typeface="Calibri" pitchFamily="34" charset="-120"/>
              </a:rPr>
              <a:t>Across 49K bookings, how the price paid moves as the check-in date approaches.</a:t>
            </a:r>
            <a:endParaRPr lang="en-US" sz="1150" dirty="0"/>
          </a:p>
        </p:txBody>
      </p:sp>
      <p:sp>
        <p:nvSpPr>
          <p:cNvPr id="13" name="Shape 10"/>
          <p:cNvSpPr/>
          <p:nvPr/>
        </p:nvSpPr>
        <p:spPr>
          <a:xfrm>
            <a:off x="3337560" y="3291840"/>
            <a:ext cx="2715768" cy="2743200"/>
          </a:xfrm>
          <a:prstGeom prst="rect">
            <a:avLst/>
          </a:prstGeom>
          <a:solidFill>
            <a:srgbClr val="F4F6FB"/>
          </a:solidFill>
          <a:ln/>
        </p:spPr>
        <p:txBody>
          <a:bodyPr/>
          <a:lstStyle/>
          <a:p>
            <a:endParaRPr lang="en-IN"/>
          </a:p>
        </p:txBody>
      </p:sp>
      <p:sp>
        <p:nvSpPr>
          <p:cNvPr id="14" name="Shape 11"/>
          <p:cNvSpPr/>
          <p:nvPr/>
        </p:nvSpPr>
        <p:spPr>
          <a:xfrm>
            <a:off x="3593592" y="3566160"/>
            <a:ext cx="548640" cy="548640"/>
          </a:xfrm>
          <a:prstGeom prst="ellipse">
            <a:avLst/>
          </a:prstGeom>
          <a:solidFill>
            <a:srgbClr val="FFFFFF"/>
          </a:solidFill>
          <a:ln w="12700">
            <a:solidFill>
              <a:srgbClr val="2B5CE6"/>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3703320" y="3675888"/>
            <a:ext cx="329184" cy="329184"/>
          </a:xfrm>
          <a:prstGeom prst="rect">
            <a:avLst/>
          </a:prstGeom>
        </p:spPr>
      </p:pic>
      <p:sp>
        <p:nvSpPr>
          <p:cNvPr id="16" name="Text 12"/>
          <p:cNvSpPr/>
          <p:nvPr/>
        </p:nvSpPr>
        <p:spPr>
          <a:xfrm>
            <a:off x="3593592" y="4251960"/>
            <a:ext cx="2258568" cy="457200"/>
          </a:xfrm>
          <a:prstGeom prst="rect">
            <a:avLst/>
          </a:prstGeom>
          <a:noFill/>
          <a:ln/>
        </p:spPr>
        <p:txBody>
          <a:bodyPr wrap="square" lIns="0" tIns="0" rIns="0" bIns="0" rtlCol="0" anchor="ctr"/>
          <a:lstStyle/>
          <a:p>
            <a:pPr marL="0" indent="0">
              <a:buNone/>
            </a:pPr>
            <a:r>
              <a:rPr lang="en-US" sz="1450" b="1" dirty="0">
                <a:solidFill>
                  <a:srgbClr val="1C2233"/>
                </a:solidFill>
                <a:latin typeface="Calibri" pitchFamily="34" charset="0"/>
                <a:ea typeface="Calibri" pitchFamily="34" charset="-122"/>
                <a:cs typeface="Calibri" pitchFamily="34" charset="-120"/>
              </a:rPr>
              <a:t>What's true</a:t>
            </a:r>
            <a:endParaRPr lang="en-US" sz="1450" dirty="0"/>
          </a:p>
        </p:txBody>
      </p:sp>
      <p:sp>
        <p:nvSpPr>
          <p:cNvPr id="17" name="Text 13"/>
          <p:cNvSpPr/>
          <p:nvPr/>
        </p:nvSpPr>
        <p:spPr>
          <a:xfrm>
            <a:off x="3593592" y="4709160"/>
            <a:ext cx="2240280" cy="1188720"/>
          </a:xfrm>
          <a:prstGeom prst="rect">
            <a:avLst/>
          </a:prstGeom>
          <a:noFill/>
          <a:ln/>
        </p:spPr>
        <p:txBody>
          <a:bodyPr wrap="square" lIns="0" tIns="0" rIns="0" bIns="0" rtlCol="0" anchor="ctr"/>
          <a:lstStyle/>
          <a:p>
            <a:pPr marL="0" indent="0">
              <a:lnSpc>
                <a:spcPct val="108000"/>
              </a:lnSpc>
              <a:buNone/>
            </a:pPr>
            <a:r>
              <a:rPr lang="en-US" sz="1150" dirty="0">
                <a:solidFill>
                  <a:srgbClr val="64748B"/>
                </a:solidFill>
                <a:latin typeface="Calibri" pitchFamily="34" charset="0"/>
                <a:ea typeface="Calibri" pitchFamily="34" charset="-122"/>
                <a:cs typeface="Calibri" pitchFamily="34" charset="-120"/>
              </a:rPr>
              <a:t>Within the same room-night the trend is ~0 (p=0.88). Prices are volatile, not directional.</a:t>
            </a:r>
            <a:endParaRPr lang="en-US" sz="1150" dirty="0"/>
          </a:p>
        </p:txBody>
      </p:sp>
      <p:sp>
        <p:nvSpPr>
          <p:cNvPr id="18" name="Shape 14"/>
          <p:cNvSpPr/>
          <p:nvPr/>
        </p:nvSpPr>
        <p:spPr>
          <a:xfrm>
            <a:off x="6126480" y="3291840"/>
            <a:ext cx="2715768" cy="2743200"/>
          </a:xfrm>
          <a:prstGeom prst="rect">
            <a:avLst/>
          </a:prstGeom>
          <a:solidFill>
            <a:srgbClr val="F4F6FB"/>
          </a:solidFill>
          <a:ln/>
        </p:spPr>
        <p:txBody>
          <a:bodyPr/>
          <a:lstStyle/>
          <a:p>
            <a:endParaRPr lang="en-IN"/>
          </a:p>
        </p:txBody>
      </p:sp>
      <p:sp>
        <p:nvSpPr>
          <p:cNvPr id="19" name="Shape 15"/>
          <p:cNvSpPr/>
          <p:nvPr/>
        </p:nvSpPr>
        <p:spPr>
          <a:xfrm>
            <a:off x="6382512" y="3566160"/>
            <a:ext cx="548640" cy="548640"/>
          </a:xfrm>
          <a:prstGeom prst="ellipse">
            <a:avLst/>
          </a:prstGeom>
          <a:solidFill>
            <a:srgbClr val="FFFFFF"/>
          </a:solidFill>
          <a:ln w="12700">
            <a:solidFill>
              <a:srgbClr val="2B5CE6"/>
            </a:solidFill>
            <a:prstDash val="solid"/>
          </a:ln>
        </p:spPr>
        <p:txBody>
          <a:bodyPr/>
          <a:lstStyle/>
          <a:p>
            <a:endParaRPr lang="en-IN"/>
          </a:p>
        </p:txBody>
      </p:sp>
      <p:pic>
        <p:nvPicPr>
          <p:cNvPr id="20" name="Image 2" descr="preencoded.png"/>
          <p:cNvPicPr>
            <a:picLocks noChangeAspect="1"/>
          </p:cNvPicPr>
          <p:nvPr/>
        </p:nvPicPr>
        <p:blipFill>
          <a:blip r:embed="rId5"/>
          <a:stretch>
            <a:fillRect/>
          </a:stretch>
        </p:blipFill>
        <p:spPr>
          <a:xfrm>
            <a:off x="6492240" y="3675888"/>
            <a:ext cx="329184" cy="329184"/>
          </a:xfrm>
          <a:prstGeom prst="rect">
            <a:avLst/>
          </a:prstGeom>
        </p:spPr>
      </p:pic>
      <p:sp>
        <p:nvSpPr>
          <p:cNvPr id="21" name="Text 16"/>
          <p:cNvSpPr/>
          <p:nvPr/>
        </p:nvSpPr>
        <p:spPr>
          <a:xfrm>
            <a:off x="6382512" y="4251960"/>
            <a:ext cx="2258568" cy="457200"/>
          </a:xfrm>
          <a:prstGeom prst="rect">
            <a:avLst/>
          </a:prstGeom>
          <a:noFill/>
          <a:ln/>
        </p:spPr>
        <p:txBody>
          <a:bodyPr wrap="square" lIns="0" tIns="0" rIns="0" bIns="0" rtlCol="0" anchor="ctr"/>
          <a:lstStyle/>
          <a:p>
            <a:pPr marL="0" indent="0">
              <a:buNone/>
            </a:pPr>
            <a:r>
              <a:rPr lang="en-US" sz="1450" b="1" dirty="0">
                <a:solidFill>
                  <a:srgbClr val="1C2233"/>
                </a:solidFill>
                <a:latin typeface="Calibri" pitchFamily="34" charset="0"/>
                <a:ea typeface="Calibri" pitchFamily="34" charset="-122"/>
                <a:cs typeface="Calibri" pitchFamily="34" charset="-120"/>
              </a:rPr>
              <a:t>The opportunity</a:t>
            </a:r>
            <a:endParaRPr lang="en-US" sz="1450" dirty="0"/>
          </a:p>
        </p:txBody>
      </p:sp>
      <p:sp>
        <p:nvSpPr>
          <p:cNvPr id="22" name="Text 17"/>
          <p:cNvSpPr/>
          <p:nvPr/>
        </p:nvSpPr>
        <p:spPr>
          <a:xfrm>
            <a:off x="6382512" y="4709160"/>
            <a:ext cx="2240280" cy="1188720"/>
          </a:xfrm>
          <a:prstGeom prst="rect">
            <a:avLst/>
          </a:prstGeom>
          <a:noFill/>
          <a:ln/>
        </p:spPr>
        <p:txBody>
          <a:bodyPr wrap="square" lIns="0" tIns="0" rIns="0" bIns="0" rtlCol="0" anchor="ctr"/>
          <a:lstStyle/>
          <a:p>
            <a:pPr>
              <a:lnSpc>
                <a:spcPct val="108000"/>
              </a:lnSpc>
            </a:pPr>
            <a:r>
              <a:rPr lang="en-US" sz="1150" dirty="0">
                <a:solidFill>
                  <a:srgbClr val="64748B"/>
                </a:solidFill>
                <a:latin typeface="Calibri" pitchFamily="34" charset="0"/>
                <a:ea typeface="Calibri" pitchFamily="34" charset="-122"/>
                <a:cs typeface="Calibri" pitchFamily="34" charset="-120"/>
              </a:rPr>
              <a:t>City D + Weekend + 4-5 star rises 82% of the time - a genuine, honest target</a:t>
            </a:r>
          </a:p>
        </p:txBody>
      </p:sp>
      <p:sp>
        <p:nvSpPr>
          <p:cNvPr id="23" name="Shape 18"/>
          <p:cNvSpPr/>
          <p:nvPr/>
        </p:nvSpPr>
        <p:spPr>
          <a:xfrm>
            <a:off x="8915400" y="3291840"/>
            <a:ext cx="2715768" cy="2743200"/>
          </a:xfrm>
          <a:prstGeom prst="rect">
            <a:avLst/>
          </a:prstGeom>
          <a:solidFill>
            <a:srgbClr val="F4F6FB"/>
          </a:solidFill>
          <a:ln/>
        </p:spPr>
        <p:txBody>
          <a:bodyPr/>
          <a:lstStyle/>
          <a:p>
            <a:endParaRPr lang="en-IN"/>
          </a:p>
        </p:txBody>
      </p:sp>
      <p:sp>
        <p:nvSpPr>
          <p:cNvPr id="24" name="Shape 19"/>
          <p:cNvSpPr/>
          <p:nvPr/>
        </p:nvSpPr>
        <p:spPr>
          <a:xfrm>
            <a:off x="9171432" y="3566160"/>
            <a:ext cx="548640" cy="548640"/>
          </a:xfrm>
          <a:prstGeom prst="ellipse">
            <a:avLst/>
          </a:prstGeom>
          <a:solidFill>
            <a:srgbClr val="FFFFFF"/>
          </a:solidFill>
          <a:ln w="12700">
            <a:solidFill>
              <a:srgbClr val="2B5CE6"/>
            </a:solidFill>
            <a:prstDash val="solid"/>
          </a:ln>
        </p:spPr>
        <p:txBody>
          <a:bodyPr/>
          <a:lstStyle/>
          <a:p>
            <a:endParaRPr lang="en-IN"/>
          </a:p>
        </p:txBody>
      </p:sp>
      <p:pic>
        <p:nvPicPr>
          <p:cNvPr id="25" name="Image 3" descr="preencoded.png"/>
          <p:cNvPicPr>
            <a:picLocks noChangeAspect="1"/>
          </p:cNvPicPr>
          <p:nvPr/>
        </p:nvPicPr>
        <p:blipFill>
          <a:blip r:embed="rId6"/>
          <a:stretch>
            <a:fillRect/>
          </a:stretch>
        </p:blipFill>
        <p:spPr>
          <a:xfrm>
            <a:off x="9281160" y="3675888"/>
            <a:ext cx="329184" cy="329184"/>
          </a:xfrm>
          <a:prstGeom prst="rect">
            <a:avLst/>
          </a:prstGeom>
        </p:spPr>
      </p:pic>
      <p:sp>
        <p:nvSpPr>
          <p:cNvPr id="26" name="Text 20"/>
          <p:cNvSpPr/>
          <p:nvPr/>
        </p:nvSpPr>
        <p:spPr>
          <a:xfrm>
            <a:off x="9171432" y="4251960"/>
            <a:ext cx="2258568" cy="457200"/>
          </a:xfrm>
          <a:prstGeom prst="rect">
            <a:avLst/>
          </a:prstGeom>
          <a:noFill/>
          <a:ln/>
        </p:spPr>
        <p:txBody>
          <a:bodyPr wrap="square" lIns="0" tIns="0" rIns="0" bIns="0" rtlCol="0" anchor="ctr"/>
          <a:lstStyle/>
          <a:p>
            <a:pPr marL="0" indent="0">
              <a:buNone/>
            </a:pPr>
            <a:r>
              <a:rPr lang="en-US" sz="1450" b="1" dirty="0">
                <a:solidFill>
                  <a:srgbClr val="1C2233"/>
                </a:solidFill>
                <a:latin typeface="Calibri" pitchFamily="34" charset="0"/>
                <a:ea typeface="Calibri" pitchFamily="34" charset="-122"/>
                <a:cs typeface="Calibri" pitchFamily="34" charset="-120"/>
              </a:rPr>
              <a:t>What to do</a:t>
            </a:r>
            <a:endParaRPr lang="en-US" sz="1450" dirty="0"/>
          </a:p>
        </p:txBody>
      </p:sp>
      <p:sp>
        <p:nvSpPr>
          <p:cNvPr id="27" name="Text 21"/>
          <p:cNvSpPr/>
          <p:nvPr/>
        </p:nvSpPr>
        <p:spPr>
          <a:xfrm>
            <a:off x="9171432" y="4615850"/>
            <a:ext cx="2240280" cy="1188720"/>
          </a:xfrm>
          <a:prstGeom prst="rect">
            <a:avLst/>
          </a:prstGeom>
          <a:noFill/>
          <a:ln/>
        </p:spPr>
        <p:txBody>
          <a:bodyPr wrap="square" lIns="0" tIns="0" rIns="0" bIns="0" rtlCol="0" anchor="ctr"/>
          <a:lstStyle/>
          <a:p>
            <a:pPr marL="0" indent="0">
              <a:lnSpc>
                <a:spcPct val="108000"/>
              </a:lnSpc>
              <a:buNone/>
            </a:pPr>
            <a:r>
              <a:rPr lang="en-US" sz="1150" dirty="0">
                <a:solidFill>
                  <a:srgbClr val="64748B"/>
                </a:solidFill>
                <a:latin typeface="Calibri" pitchFamily="34" charset="0"/>
                <a:ea typeface="Calibri" pitchFamily="34" charset="-122"/>
                <a:cs typeface="Calibri" pitchFamily="34" charset="-120"/>
              </a:rPr>
              <a:t>Reserve price-rise for proven segments; A/B test before scaling.</a:t>
            </a:r>
            <a:endParaRPr lang="en-US" sz="1150" dirty="0"/>
          </a:p>
        </p:txBody>
      </p:sp>
      <p:pic>
        <p:nvPicPr>
          <p:cNvPr id="29" name="Picture 28">
            <a:extLst>
              <a:ext uri="{FF2B5EF4-FFF2-40B4-BE49-F238E27FC236}">
                <a16:creationId xmlns:a16="http://schemas.microsoft.com/office/drawing/2014/main" id="{967AB1AF-0AA4-9588-E176-FCA42F967181}"/>
              </a:ext>
            </a:extLst>
          </p:cNvPr>
          <p:cNvPicPr>
            <a:picLocks noChangeAspect="1"/>
          </p:cNvPicPr>
          <p:nvPr/>
        </p:nvPicPr>
        <p:blipFill>
          <a:blip r:embed="rId7"/>
          <a:stretch>
            <a:fillRect/>
          </a:stretch>
        </p:blipFill>
        <p:spPr>
          <a:xfrm>
            <a:off x="10813872" y="-44952"/>
            <a:ext cx="1376825" cy="9031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marL="0" indent="0">
              <a:buNone/>
            </a:pPr>
            <a:r>
              <a:rPr lang="en-US" sz="1200" b="1" kern="0" spc="200" dirty="0">
                <a:solidFill>
                  <a:srgbClr val="2B5CE6"/>
                </a:solidFill>
                <a:latin typeface="Calibri" pitchFamily="34" charset="0"/>
                <a:ea typeface="Calibri" pitchFamily="34" charset="-122"/>
                <a:cs typeface="Calibri" pitchFamily="34" charset="-120"/>
              </a:rPr>
              <a:t>THE BRIEF &amp; MY APPROACH</a:t>
            </a:r>
            <a:endParaRPr lang="en-US" sz="12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C2233"/>
                </a:solidFill>
                <a:latin typeface="Calibri" pitchFamily="34" charset="0"/>
                <a:ea typeface="Calibri" pitchFamily="34" charset="-122"/>
                <a:cs typeface="Calibri" pitchFamily="34" charset="-120"/>
              </a:rPr>
              <a:t>From a tempting trend to a causal answer</a:t>
            </a:r>
            <a:endParaRPr lang="en-US" sz="3200" dirty="0"/>
          </a:p>
        </p:txBody>
      </p:sp>
      <p:sp>
        <p:nvSpPr>
          <p:cNvPr id="4" name="Text 2"/>
          <p:cNvSpPr/>
          <p:nvPr/>
        </p:nvSpPr>
        <p:spPr>
          <a:xfrm>
            <a:off x="566928" y="1508760"/>
            <a:ext cx="11064240" cy="457200"/>
          </a:xfrm>
          <a:prstGeom prst="rect">
            <a:avLst/>
          </a:prstGeom>
          <a:noFill/>
          <a:ln/>
        </p:spPr>
        <p:txBody>
          <a:bodyPr wrap="square" lIns="0" tIns="0" rIns="0" bIns="0" rtlCol="0" anchor="ctr"/>
          <a:lstStyle/>
          <a:p>
            <a:pPr marL="0" indent="0">
              <a:buNone/>
            </a:pPr>
            <a:r>
              <a:rPr lang="en-US" sz="1500" i="1" dirty="0">
                <a:solidFill>
                  <a:srgbClr val="2B5CE6"/>
                </a:solidFill>
                <a:latin typeface="Calibri Light" pitchFamily="34" charset="0"/>
                <a:ea typeface="Calibri Light" pitchFamily="34" charset="-122"/>
                <a:cs typeface="Calibri Light" pitchFamily="34" charset="-120"/>
              </a:rPr>
              <a:t>The Product Owner wants an urgency message. First, I had to check if its premise is even true.</a:t>
            </a:r>
            <a:endParaRPr lang="en-US" sz="1500" dirty="0"/>
          </a:p>
        </p:txBody>
      </p:sp>
      <p:sp>
        <p:nvSpPr>
          <p:cNvPr id="5" name="Shape 3"/>
          <p:cNvSpPr/>
          <p:nvPr/>
        </p:nvSpPr>
        <p:spPr>
          <a:xfrm>
            <a:off x="548640" y="2148840"/>
            <a:ext cx="4937760" cy="4023360"/>
          </a:xfrm>
          <a:prstGeom prst="rect">
            <a:avLst/>
          </a:prstGeom>
          <a:solidFill>
            <a:srgbClr val="F4F6FB"/>
          </a:solidFill>
          <a:ln/>
        </p:spPr>
        <p:txBody>
          <a:bodyPr/>
          <a:lstStyle/>
          <a:p>
            <a:endParaRPr lang="en-IN"/>
          </a:p>
        </p:txBody>
      </p:sp>
      <p:sp>
        <p:nvSpPr>
          <p:cNvPr id="6" name="Shape 4"/>
          <p:cNvSpPr/>
          <p:nvPr/>
        </p:nvSpPr>
        <p:spPr>
          <a:xfrm>
            <a:off x="548640" y="2148840"/>
            <a:ext cx="109728" cy="4023360"/>
          </a:xfrm>
          <a:prstGeom prst="rect">
            <a:avLst/>
          </a:prstGeom>
          <a:solidFill>
            <a:srgbClr val="E5326E"/>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868680" y="2468880"/>
            <a:ext cx="502920" cy="502920"/>
          </a:xfrm>
          <a:prstGeom prst="rect">
            <a:avLst/>
          </a:prstGeom>
        </p:spPr>
      </p:pic>
      <p:sp>
        <p:nvSpPr>
          <p:cNvPr id="8" name="Text 5"/>
          <p:cNvSpPr/>
          <p:nvPr/>
        </p:nvSpPr>
        <p:spPr>
          <a:xfrm>
            <a:off x="1554480" y="2487168"/>
            <a:ext cx="3749040" cy="457200"/>
          </a:xfrm>
          <a:prstGeom prst="rect">
            <a:avLst/>
          </a:prstGeom>
          <a:noFill/>
          <a:ln/>
        </p:spPr>
        <p:txBody>
          <a:bodyPr wrap="square" lIns="0" tIns="0" rIns="0" bIns="0" rtlCol="0" anchor="ctr"/>
          <a:lstStyle/>
          <a:p>
            <a:pPr marL="0" indent="0">
              <a:buNone/>
            </a:pPr>
            <a:r>
              <a:rPr lang="en-US" sz="1600" b="1" dirty="0">
                <a:solidFill>
                  <a:srgbClr val="1C2233"/>
                </a:solidFill>
                <a:latin typeface="Calibri" pitchFamily="34" charset="0"/>
                <a:ea typeface="Calibri" pitchFamily="34" charset="-122"/>
                <a:cs typeface="Calibri" pitchFamily="34" charset="-120"/>
              </a:rPr>
              <a:t>The premise to test</a:t>
            </a:r>
            <a:endParaRPr lang="en-US" sz="1600" dirty="0"/>
          </a:p>
        </p:txBody>
      </p:sp>
      <p:sp>
        <p:nvSpPr>
          <p:cNvPr id="9" name="Text 6"/>
          <p:cNvSpPr/>
          <p:nvPr/>
        </p:nvSpPr>
        <p:spPr>
          <a:xfrm>
            <a:off x="868680" y="3154680"/>
            <a:ext cx="4389120" cy="822960"/>
          </a:xfrm>
          <a:prstGeom prst="rect">
            <a:avLst/>
          </a:prstGeom>
          <a:noFill/>
          <a:ln/>
        </p:spPr>
        <p:txBody>
          <a:bodyPr wrap="square" lIns="0" tIns="0" rIns="0" bIns="0" rtlCol="0" anchor="ctr"/>
          <a:lstStyle/>
          <a:p>
            <a:pPr marL="0" indent="0">
              <a:lnSpc>
                <a:spcPct val="110000"/>
              </a:lnSpc>
              <a:buNone/>
            </a:pPr>
            <a:r>
              <a:rPr lang="en-US" sz="1500" i="1" dirty="0">
                <a:solidFill>
                  <a:srgbClr val="E5326E"/>
                </a:solidFill>
                <a:latin typeface="Calibri Light" pitchFamily="34" charset="0"/>
                <a:ea typeface="Calibri Light" pitchFamily="34" charset="-122"/>
                <a:cs typeface="Calibri Light" pitchFamily="34" charset="-120"/>
              </a:rPr>
              <a:t>"Prices have been rising, book now to lock in your rate."</a:t>
            </a:r>
            <a:endParaRPr lang="en-US" sz="1500" dirty="0"/>
          </a:p>
        </p:txBody>
      </p:sp>
      <p:sp>
        <p:nvSpPr>
          <p:cNvPr id="10" name="Text 7"/>
          <p:cNvSpPr/>
          <p:nvPr/>
        </p:nvSpPr>
        <p:spPr>
          <a:xfrm>
            <a:off x="868680" y="4069080"/>
            <a:ext cx="4389120" cy="1371600"/>
          </a:xfrm>
          <a:prstGeom prst="rect">
            <a:avLst/>
          </a:prstGeom>
          <a:noFill/>
          <a:ln/>
        </p:spPr>
        <p:txBody>
          <a:bodyPr wrap="square" lIns="0" tIns="0" rIns="0" bIns="0" rtlCol="0" anchor="ctr"/>
          <a:lstStyle/>
          <a:p>
            <a:pPr marL="0" indent="0">
              <a:lnSpc>
                <a:spcPct val="115000"/>
              </a:lnSpc>
              <a:buNone/>
            </a:pPr>
            <a:r>
              <a:rPr lang="en-US" sz="1300" dirty="0">
                <a:solidFill>
                  <a:srgbClr val="1C2233"/>
                </a:solidFill>
                <a:latin typeface="Calibri" pitchFamily="34" charset="0"/>
                <a:ea typeface="Calibri" pitchFamily="34" charset="-122"/>
                <a:cs typeface="Calibri" pitchFamily="34" charset="-120"/>
              </a:rPr>
              <a:t>If true, urgency messaging is justified. If not, I'd be misleading customers - a trust and compliance risk. The data must decide.</a:t>
            </a:r>
            <a:endParaRPr lang="en-US" sz="1300" dirty="0"/>
          </a:p>
        </p:txBody>
      </p:sp>
      <p:sp>
        <p:nvSpPr>
          <p:cNvPr id="11" name="Shape 8"/>
          <p:cNvSpPr/>
          <p:nvPr/>
        </p:nvSpPr>
        <p:spPr>
          <a:xfrm>
            <a:off x="5943600" y="2240280"/>
            <a:ext cx="640080" cy="640080"/>
          </a:xfrm>
          <a:prstGeom prst="ellipse">
            <a:avLst/>
          </a:prstGeom>
          <a:solidFill>
            <a:srgbClr val="EAF0FB"/>
          </a:solidFill>
          <a:ln w="12700">
            <a:solidFill>
              <a:srgbClr val="2B5CE6"/>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6089904" y="2386584"/>
            <a:ext cx="347472" cy="347472"/>
          </a:xfrm>
          <a:prstGeom prst="rect">
            <a:avLst/>
          </a:prstGeom>
        </p:spPr>
      </p:pic>
      <p:sp>
        <p:nvSpPr>
          <p:cNvPr id="13" name="Text 9"/>
          <p:cNvSpPr/>
          <p:nvPr/>
        </p:nvSpPr>
        <p:spPr>
          <a:xfrm>
            <a:off x="6766560" y="2221992"/>
            <a:ext cx="4937760" cy="365760"/>
          </a:xfrm>
          <a:prstGeom prst="rect">
            <a:avLst/>
          </a:prstGeom>
          <a:noFill/>
          <a:ln/>
        </p:spPr>
        <p:txBody>
          <a:bodyPr wrap="square" lIns="0" tIns="0" rIns="0" bIns="0" rtlCol="0" anchor="ctr"/>
          <a:lstStyle/>
          <a:p>
            <a:pPr marL="0" indent="0">
              <a:buNone/>
            </a:pPr>
            <a:r>
              <a:rPr lang="en-US" sz="1100" b="1" dirty="0">
                <a:solidFill>
                  <a:srgbClr val="2B5CE6"/>
                </a:solidFill>
                <a:latin typeface="Calibri" pitchFamily="34" charset="0"/>
                <a:ea typeface="Calibri" pitchFamily="34" charset="-122"/>
                <a:cs typeface="Calibri" pitchFamily="34" charset="-120"/>
              </a:rPr>
              <a:t>Step 1  </a:t>
            </a:r>
            <a:r>
              <a:rPr lang="en-US" sz="1500" b="1" dirty="0">
                <a:solidFill>
                  <a:srgbClr val="1C2233"/>
                </a:solidFill>
                <a:latin typeface="Calibri" pitchFamily="34" charset="0"/>
                <a:ea typeface="Calibri" pitchFamily="34" charset="-122"/>
                <a:cs typeface="Calibri" pitchFamily="34" charset="-120"/>
              </a:rPr>
              <a:t>Explore</a:t>
            </a:r>
            <a:endParaRPr lang="en-US" sz="1100" dirty="0"/>
          </a:p>
        </p:txBody>
      </p:sp>
      <p:sp>
        <p:nvSpPr>
          <p:cNvPr id="14" name="Text 10"/>
          <p:cNvSpPr/>
          <p:nvPr/>
        </p:nvSpPr>
        <p:spPr>
          <a:xfrm>
            <a:off x="6766560" y="2587752"/>
            <a:ext cx="4846320" cy="548640"/>
          </a:xfrm>
          <a:prstGeom prst="rect">
            <a:avLst/>
          </a:prstGeom>
          <a:noFill/>
          <a:ln/>
        </p:spPr>
        <p:txBody>
          <a:bodyPr wrap="square" lIns="0" tIns="0" rIns="0" bIns="0" rtlCol="0" anchor="ctr"/>
          <a:lstStyle/>
          <a:p>
            <a:pPr marL="0" indent="0">
              <a:lnSpc>
                <a:spcPct val="100000"/>
              </a:lnSpc>
              <a:buNone/>
            </a:pPr>
            <a:r>
              <a:rPr lang="en-US" sz="1200" dirty="0">
                <a:solidFill>
                  <a:srgbClr val="64748B"/>
                </a:solidFill>
                <a:latin typeface="Calibri" pitchFamily="34" charset="0"/>
                <a:ea typeface="Calibri" pitchFamily="34" charset="-122"/>
                <a:cs typeface="Calibri" pitchFamily="34" charset="-120"/>
              </a:rPr>
              <a:t>Profile 49064 bookings; map how price behaves as the check-in date approaches, fix incorrect accommodation type name &amp; </a:t>
            </a:r>
            <a:r>
              <a:rPr lang="en-US" sz="1200" b="1" dirty="0">
                <a:solidFill>
                  <a:srgbClr val="64748B"/>
                </a:solidFill>
                <a:latin typeface="Calibri" pitchFamily="34" charset="0"/>
                <a:ea typeface="Calibri" pitchFamily="34" charset="-122"/>
                <a:cs typeface="Calibri" pitchFamily="34" charset="-120"/>
              </a:rPr>
              <a:t>remove</a:t>
            </a:r>
            <a:r>
              <a:rPr lang="en-US" sz="1200" dirty="0">
                <a:solidFill>
                  <a:srgbClr val="64748B"/>
                </a:solidFill>
                <a:latin typeface="Calibri" pitchFamily="34" charset="0"/>
                <a:ea typeface="Calibri" pitchFamily="34" charset="-122"/>
                <a:cs typeface="Calibri" pitchFamily="34" charset="-120"/>
              </a:rPr>
              <a:t> </a:t>
            </a:r>
            <a:br>
              <a:rPr lang="en-US" sz="1200" dirty="0">
                <a:solidFill>
                  <a:srgbClr val="64748B"/>
                </a:solidFill>
                <a:latin typeface="Calibri" pitchFamily="34" charset="0"/>
                <a:ea typeface="Calibri" pitchFamily="34" charset="-122"/>
                <a:cs typeface="Calibri" pitchFamily="34" charset="-120"/>
              </a:rPr>
            </a:br>
            <a:r>
              <a:rPr lang="en-US" sz="1200" dirty="0">
                <a:solidFill>
                  <a:srgbClr val="64748B"/>
                </a:solidFill>
                <a:latin typeface="Calibri" pitchFamily="34" charset="0"/>
                <a:ea typeface="Calibri" pitchFamily="34" charset="-122"/>
                <a:cs typeface="Calibri" pitchFamily="34" charset="-120"/>
              </a:rPr>
              <a:t>check-in date &lt; booking date cases (3 cases).</a:t>
            </a:r>
            <a:endParaRPr lang="en-US" sz="1200" dirty="0"/>
          </a:p>
        </p:txBody>
      </p:sp>
      <p:sp>
        <p:nvSpPr>
          <p:cNvPr id="15" name="Shape 11"/>
          <p:cNvSpPr/>
          <p:nvPr/>
        </p:nvSpPr>
        <p:spPr>
          <a:xfrm>
            <a:off x="5943600" y="3227832"/>
            <a:ext cx="640080" cy="640080"/>
          </a:xfrm>
          <a:prstGeom prst="ellipse">
            <a:avLst/>
          </a:prstGeom>
          <a:solidFill>
            <a:srgbClr val="EAF0FB"/>
          </a:solidFill>
          <a:ln w="12700">
            <a:solidFill>
              <a:srgbClr val="2B5CE6"/>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6089904" y="3374136"/>
            <a:ext cx="347472" cy="347472"/>
          </a:xfrm>
          <a:prstGeom prst="rect">
            <a:avLst/>
          </a:prstGeom>
        </p:spPr>
      </p:pic>
      <p:sp>
        <p:nvSpPr>
          <p:cNvPr id="17" name="Text 12"/>
          <p:cNvSpPr/>
          <p:nvPr/>
        </p:nvSpPr>
        <p:spPr>
          <a:xfrm>
            <a:off x="6766560" y="3209544"/>
            <a:ext cx="4937760" cy="365760"/>
          </a:xfrm>
          <a:prstGeom prst="rect">
            <a:avLst/>
          </a:prstGeom>
          <a:noFill/>
          <a:ln/>
        </p:spPr>
        <p:txBody>
          <a:bodyPr wrap="square" lIns="0" tIns="0" rIns="0" bIns="0" rtlCol="0" anchor="ctr"/>
          <a:lstStyle/>
          <a:p>
            <a:pPr marL="0" indent="0">
              <a:buNone/>
            </a:pPr>
            <a:r>
              <a:rPr lang="en-US" sz="1100" b="1" dirty="0">
                <a:solidFill>
                  <a:srgbClr val="2B5CE6"/>
                </a:solidFill>
                <a:latin typeface="Calibri" pitchFamily="34" charset="0"/>
                <a:ea typeface="Calibri" pitchFamily="34" charset="-122"/>
                <a:cs typeface="Calibri" pitchFamily="34" charset="-120"/>
              </a:rPr>
              <a:t>Step 2  </a:t>
            </a:r>
            <a:r>
              <a:rPr lang="en-US" sz="1500" b="1" dirty="0">
                <a:solidFill>
                  <a:srgbClr val="1C2233"/>
                </a:solidFill>
                <a:latin typeface="Calibri" pitchFamily="34" charset="0"/>
                <a:ea typeface="Calibri" pitchFamily="34" charset="-122"/>
                <a:cs typeface="Calibri" pitchFamily="34" charset="-120"/>
              </a:rPr>
              <a:t>Control for mix</a:t>
            </a:r>
            <a:endParaRPr lang="en-US" sz="1100" dirty="0"/>
          </a:p>
        </p:txBody>
      </p:sp>
      <p:sp>
        <p:nvSpPr>
          <p:cNvPr id="18" name="Text 13"/>
          <p:cNvSpPr/>
          <p:nvPr/>
        </p:nvSpPr>
        <p:spPr>
          <a:xfrm>
            <a:off x="6766560" y="3575304"/>
            <a:ext cx="4846320" cy="548640"/>
          </a:xfrm>
          <a:prstGeom prst="rect">
            <a:avLst/>
          </a:prstGeom>
          <a:noFill/>
          <a:ln/>
        </p:spPr>
        <p:txBody>
          <a:bodyPr wrap="square" lIns="0" tIns="0" rIns="0" bIns="0" rtlCol="0" anchor="ctr"/>
          <a:lstStyle/>
          <a:p>
            <a:r>
              <a:rPr lang="en-IN" sz="1200" dirty="0">
                <a:solidFill>
                  <a:srgbClr val="64748B"/>
                </a:solidFill>
                <a:latin typeface="Calibri" pitchFamily="34" charset="0"/>
                <a:ea typeface="Calibri" pitchFamily="34" charset="-122"/>
                <a:cs typeface="Calibri" pitchFamily="34" charset="-120"/>
              </a:rPr>
              <a:t>Hold star rating, chain, city &amp; weekend constant, then compare each hotel to itself : strips out which hotels book when, not just which prices move.</a:t>
            </a:r>
            <a:endParaRPr lang="en-US" sz="1200" dirty="0">
              <a:solidFill>
                <a:srgbClr val="64748B"/>
              </a:solidFill>
              <a:latin typeface="Calibri" pitchFamily="34" charset="0"/>
              <a:ea typeface="Calibri" pitchFamily="34" charset="-122"/>
              <a:cs typeface="Calibri" pitchFamily="34" charset="-120"/>
            </a:endParaRPr>
          </a:p>
        </p:txBody>
      </p:sp>
      <p:sp>
        <p:nvSpPr>
          <p:cNvPr id="19" name="Shape 14"/>
          <p:cNvSpPr/>
          <p:nvPr/>
        </p:nvSpPr>
        <p:spPr>
          <a:xfrm>
            <a:off x="5943600" y="4215384"/>
            <a:ext cx="640080" cy="640080"/>
          </a:xfrm>
          <a:prstGeom prst="ellipse">
            <a:avLst/>
          </a:prstGeom>
          <a:solidFill>
            <a:srgbClr val="EAF0FB"/>
          </a:solidFill>
          <a:ln w="12700">
            <a:solidFill>
              <a:srgbClr val="2B5CE6"/>
            </a:solidFill>
            <a:prstDash val="solid"/>
          </a:ln>
        </p:spPr>
        <p:txBody>
          <a:bodyPr/>
          <a:lstStyle/>
          <a:p>
            <a:endParaRPr lang="en-IN"/>
          </a:p>
        </p:txBody>
      </p:sp>
      <p:pic>
        <p:nvPicPr>
          <p:cNvPr id="20" name="Image 3" descr="preencoded.png"/>
          <p:cNvPicPr>
            <a:picLocks noChangeAspect="1"/>
          </p:cNvPicPr>
          <p:nvPr/>
        </p:nvPicPr>
        <p:blipFill>
          <a:blip r:embed="rId6"/>
          <a:stretch>
            <a:fillRect/>
          </a:stretch>
        </p:blipFill>
        <p:spPr>
          <a:xfrm>
            <a:off x="6089904" y="4361688"/>
            <a:ext cx="347472" cy="347472"/>
          </a:xfrm>
          <a:prstGeom prst="rect">
            <a:avLst/>
          </a:prstGeom>
        </p:spPr>
      </p:pic>
      <p:sp>
        <p:nvSpPr>
          <p:cNvPr id="21" name="Text 15"/>
          <p:cNvSpPr/>
          <p:nvPr/>
        </p:nvSpPr>
        <p:spPr>
          <a:xfrm>
            <a:off x="6766560" y="4197096"/>
            <a:ext cx="4937760" cy="365760"/>
          </a:xfrm>
          <a:prstGeom prst="rect">
            <a:avLst/>
          </a:prstGeom>
          <a:noFill/>
          <a:ln/>
        </p:spPr>
        <p:txBody>
          <a:bodyPr wrap="square" lIns="0" tIns="0" rIns="0" bIns="0" rtlCol="0" anchor="ctr"/>
          <a:lstStyle/>
          <a:p>
            <a:pPr marL="0" indent="0">
              <a:buNone/>
            </a:pPr>
            <a:r>
              <a:rPr lang="en-US" sz="1100" b="1" dirty="0">
                <a:solidFill>
                  <a:srgbClr val="2B5CE6"/>
                </a:solidFill>
                <a:latin typeface="Calibri" pitchFamily="34" charset="0"/>
                <a:ea typeface="Calibri" pitchFamily="34" charset="-122"/>
                <a:cs typeface="Calibri" pitchFamily="34" charset="-120"/>
              </a:rPr>
              <a:t>Step 3  </a:t>
            </a:r>
            <a:r>
              <a:rPr lang="en-US" sz="1500" b="1" dirty="0">
                <a:solidFill>
                  <a:srgbClr val="1C2233"/>
                </a:solidFill>
                <a:latin typeface="Calibri" pitchFamily="34" charset="0"/>
                <a:ea typeface="Calibri" pitchFamily="34" charset="-122"/>
                <a:cs typeface="Calibri" pitchFamily="34" charset="-120"/>
              </a:rPr>
              <a:t>Isolate the signal</a:t>
            </a:r>
            <a:endParaRPr lang="en-US" sz="1100" dirty="0"/>
          </a:p>
        </p:txBody>
      </p:sp>
      <p:sp>
        <p:nvSpPr>
          <p:cNvPr id="22" name="Text 16"/>
          <p:cNvSpPr/>
          <p:nvPr/>
        </p:nvSpPr>
        <p:spPr>
          <a:xfrm>
            <a:off x="6766560" y="4562856"/>
            <a:ext cx="4846320" cy="548640"/>
          </a:xfrm>
          <a:prstGeom prst="rect">
            <a:avLst/>
          </a:prstGeom>
          <a:noFill/>
          <a:ln/>
        </p:spPr>
        <p:txBody>
          <a:bodyPr wrap="square" lIns="0" tIns="0" rIns="0" bIns="0" rtlCol="0" anchor="ctr"/>
          <a:lstStyle/>
          <a:p>
            <a:r>
              <a:rPr lang="en-IN" sz="1200" dirty="0">
                <a:solidFill>
                  <a:srgbClr val="64748B"/>
                </a:solidFill>
                <a:latin typeface="Calibri" pitchFamily="34" charset="0"/>
                <a:ea typeface="Calibri" pitchFamily="34" charset="-122"/>
                <a:cs typeface="Calibri" pitchFamily="34" charset="-120"/>
              </a:rPr>
              <a:t>Narrow to the same hotel on the same night, booked at different times : the clean test, where only timing varies.</a:t>
            </a:r>
            <a:endParaRPr lang="en-US" sz="1200" dirty="0">
              <a:solidFill>
                <a:srgbClr val="64748B"/>
              </a:solidFill>
              <a:latin typeface="Calibri" pitchFamily="34" charset="0"/>
              <a:ea typeface="Calibri" pitchFamily="34" charset="-122"/>
              <a:cs typeface="Calibri" pitchFamily="34" charset="-120"/>
            </a:endParaRPr>
          </a:p>
        </p:txBody>
      </p:sp>
      <p:sp>
        <p:nvSpPr>
          <p:cNvPr id="23" name="Shape 17"/>
          <p:cNvSpPr/>
          <p:nvPr/>
        </p:nvSpPr>
        <p:spPr>
          <a:xfrm>
            <a:off x="5943600" y="5202936"/>
            <a:ext cx="640080" cy="640080"/>
          </a:xfrm>
          <a:prstGeom prst="ellipse">
            <a:avLst/>
          </a:prstGeom>
          <a:solidFill>
            <a:srgbClr val="EAF0FB"/>
          </a:solidFill>
          <a:ln w="12700">
            <a:solidFill>
              <a:srgbClr val="2B5CE6"/>
            </a:solidFill>
            <a:prstDash val="solid"/>
          </a:ln>
        </p:spPr>
        <p:txBody>
          <a:bodyPr/>
          <a:lstStyle/>
          <a:p>
            <a:endParaRPr lang="en-IN"/>
          </a:p>
        </p:txBody>
      </p:sp>
      <p:pic>
        <p:nvPicPr>
          <p:cNvPr id="24" name="Image 4" descr="preencoded.png"/>
          <p:cNvPicPr>
            <a:picLocks noChangeAspect="1"/>
          </p:cNvPicPr>
          <p:nvPr/>
        </p:nvPicPr>
        <p:blipFill>
          <a:blip r:embed="rId7"/>
          <a:stretch>
            <a:fillRect/>
          </a:stretch>
        </p:blipFill>
        <p:spPr>
          <a:xfrm>
            <a:off x="6089904" y="5349240"/>
            <a:ext cx="347472" cy="347472"/>
          </a:xfrm>
          <a:prstGeom prst="rect">
            <a:avLst/>
          </a:prstGeom>
        </p:spPr>
      </p:pic>
      <p:sp>
        <p:nvSpPr>
          <p:cNvPr id="25" name="Text 18"/>
          <p:cNvSpPr/>
          <p:nvPr/>
        </p:nvSpPr>
        <p:spPr>
          <a:xfrm>
            <a:off x="6766560" y="5184648"/>
            <a:ext cx="4937760" cy="365760"/>
          </a:xfrm>
          <a:prstGeom prst="rect">
            <a:avLst/>
          </a:prstGeom>
          <a:noFill/>
          <a:ln/>
        </p:spPr>
        <p:txBody>
          <a:bodyPr wrap="square" lIns="0" tIns="0" rIns="0" bIns="0" rtlCol="0" anchor="ctr"/>
          <a:lstStyle/>
          <a:p>
            <a:pPr marL="0" indent="0">
              <a:buNone/>
            </a:pPr>
            <a:r>
              <a:rPr lang="en-US" sz="1100" b="1" dirty="0">
                <a:solidFill>
                  <a:srgbClr val="2B5CE6"/>
                </a:solidFill>
                <a:latin typeface="Calibri" pitchFamily="34" charset="0"/>
                <a:ea typeface="Calibri" pitchFamily="34" charset="-122"/>
                <a:cs typeface="Calibri" pitchFamily="34" charset="-120"/>
              </a:rPr>
              <a:t>Step 4  </a:t>
            </a:r>
            <a:r>
              <a:rPr lang="en-US" sz="1500" b="1" dirty="0">
                <a:solidFill>
                  <a:srgbClr val="1C2233"/>
                </a:solidFill>
                <a:latin typeface="Calibri" pitchFamily="34" charset="0"/>
                <a:ea typeface="Calibri" pitchFamily="34" charset="-122"/>
                <a:cs typeface="Calibri" pitchFamily="34" charset="-120"/>
              </a:rPr>
              <a:t>Translate</a:t>
            </a:r>
            <a:endParaRPr lang="en-US" sz="1100" dirty="0"/>
          </a:p>
        </p:txBody>
      </p:sp>
      <p:sp>
        <p:nvSpPr>
          <p:cNvPr id="26" name="Text 19"/>
          <p:cNvSpPr/>
          <p:nvPr/>
        </p:nvSpPr>
        <p:spPr>
          <a:xfrm>
            <a:off x="6766560" y="5550408"/>
            <a:ext cx="4846320" cy="548640"/>
          </a:xfrm>
          <a:prstGeom prst="rect">
            <a:avLst/>
          </a:prstGeom>
          <a:noFill/>
          <a:ln/>
        </p:spPr>
        <p:txBody>
          <a:bodyPr wrap="square" lIns="0" tIns="0" rIns="0" bIns="0" rtlCol="0" anchor="ctr"/>
          <a:lstStyle/>
          <a:p>
            <a:r>
              <a:rPr lang="en-IN" sz="1200" dirty="0">
                <a:solidFill>
                  <a:srgbClr val="64748B"/>
                </a:solidFill>
                <a:latin typeface="Calibri" pitchFamily="34" charset="0"/>
                <a:ea typeface="Calibri" pitchFamily="34" charset="-122"/>
                <a:cs typeface="Calibri" pitchFamily="34" charset="-120"/>
              </a:rPr>
              <a:t>Turn the finding into a targeted, honest recommendation where the message is true, where it misleads, and what to do.</a:t>
            </a:r>
            <a:endParaRPr lang="en-US" sz="1200" dirty="0">
              <a:solidFill>
                <a:srgbClr val="64748B"/>
              </a:solidFill>
              <a:latin typeface="Calibri" pitchFamily="34" charset="0"/>
              <a:ea typeface="Calibri" pitchFamily="34" charset="-122"/>
              <a:cs typeface="Calibri" pitchFamily="34" charset="-120"/>
            </a:endParaRPr>
          </a:p>
        </p:txBody>
      </p:sp>
      <p:pic>
        <p:nvPicPr>
          <p:cNvPr id="27" name="Picture 26">
            <a:extLst>
              <a:ext uri="{FF2B5EF4-FFF2-40B4-BE49-F238E27FC236}">
                <a16:creationId xmlns:a16="http://schemas.microsoft.com/office/drawing/2014/main" id="{64A91EEF-E4EB-E097-54A2-634A58454AE9}"/>
              </a:ext>
            </a:extLst>
          </p:cNvPr>
          <p:cNvPicPr>
            <a:picLocks noChangeAspect="1"/>
          </p:cNvPicPr>
          <p:nvPr/>
        </p:nvPicPr>
        <p:blipFill>
          <a:blip r:embed="rId8"/>
          <a:stretch>
            <a:fillRect/>
          </a:stretch>
        </p:blipFill>
        <p:spPr>
          <a:xfrm>
            <a:off x="10813872" y="-44952"/>
            <a:ext cx="1376825" cy="90319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marL="0" indent="0">
              <a:buNone/>
            </a:pPr>
            <a:r>
              <a:rPr lang="en-US" sz="1200" b="1" kern="0" spc="200" dirty="0">
                <a:solidFill>
                  <a:srgbClr val="2B5CE6"/>
                </a:solidFill>
                <a:latin typeface="Calibri" pitchFamily="34" charset="0"/>
                <a:ea typeface="Calibri" pitchFamily="34" charset="-122"/>
                <a:cs typeface="Calibri" pitchFamily="34" charset="-120"/>
              </a:rPr>
              <a:t>01  ·  THE DATA</a:t>
            </a:r>
            <a:endParaRPr lang="en-US" sz="1200" dirty="0"/>
          </a:p>
        </p:txBody>
      </p:sp>
      <p:sp>
        <p:nvSpPr>
          <p:cNvPr id="3" name="Text 1"/>
          <p:cNvSpPr/>
          <p:nvPr/>
        </p:nvSpPr>
        <p:spPr>
          <a:xfrm>
            <a:off x="438044" y="661771"/>
            <a:ext cx="11064240" cy="548640"/>
          </a:xfrm>
          <a:prstGeom prst="rect">
            <a:avLst/>
          </a:prstGeom>
          <a:noFill/>
          <a:ln/>
        </p:spPr>
        <p:txBody>
          <a:bodyPr wrap="square" lIns="0" tIns="0" rIns="0" bIns="0" rtlCol="0" anchor="ctr"/>
          <a:lstStyle/>
          <a:p>
            <a:pPr marL="0" indent="0">
              <a:buNone/>
            </a:pPr>
            <a:r>
              <a:rPr lang="en-US" sz="2600" b="1" dirty="0">
                <a:solidFill>
                  <a:srgbClr val="1C2233"/>
                </a:solidFill>
                <a:latin typeface="Calibri" pitchFamily="34" charset="0"/>
                <a:ea typeface="Calibri" pitchFamily="34" charset="-122"/>
                <a:cs typeface="Calibri" pitchFamily="34" charset="-120"/>
              </a:rPr>
              <a:t>Live &amp; Interactive Dashboard : Executive Overview</a:t>
            </a:r>
            <a:endParaRPr lang="en-US" sz="1400" i="1" dirty="0">
              <a:solidFill>
                <a:srgbClr val="FF0000"/>
              </a:solidFill>
            </a:endParaRPr>
          </a:p>
        </p:txBody>
      </p:sp>
      <p:sp>
        <p:nvSpPr>
          <p:cNvPr id="6" name="Text 3"/>
          <p:cNvSpPr/>
          <p:nvPr/>
        </p:nvSpPr>
        <p:spPr>
          <a:xfrm>
            <a:off x="9470571" y="552988"/>
            <a:ext cx="2904007" cy="1974906"/>
          </a:xfrm>
          <a:prstGeom prst="rect">
            <a:avLst/>
          </a:prstGeom>
          <a:noFill/>
          <a:ln/>
        </p:spPr>
        <p:txBody>
          <a:bodyPr wrap="square" lIns="0" tIns="0" rIns="0" bIns="0" rtlCol="0" anchor="ctr"/>
          <a:lstStyle/>
          <a:p>
            <a:pPr marL="0" indent="0">
              <a:lnSpc>
                <a:spcPct val="105000"/>
              </a:lnSpc>
              <a:buNone/>
            </a:pPr>
            <a:r>
              <a:rPr lang="en-US" sz="1900" b="1" dirty="0">
                <a:solidFill>
                  <a:srgbClr val="10239E"/>
                </a:solidFill>
                <a:latin typeface="Calibri" pitchFamily="34" charset="0"/>
                <a:ea typeface="Calibri" pitchFamily="34" charset="-122"/>
                <a:cs typeface="Calibri" pitchFamily="34" charset="-120"/>
              </a:rPr>
              <a:t>A clean, well-behaved sample : with one telling detail in the averages.</a:t>
            </a:r>
            <a:endParaRPr lang="en-US" sz="1900" dirty="0"/>
          </a:p>
        </p:txBody>
      </p:sp>
      <p:sp>
        <p:nvSpPr>
          <p:cNvPr id="7" name="Shape 4"/>
          <p:cNvSpPr/>
          <p:nvPr/>
        </p:nvSpPr>
        <p:spPr>
          <a:xfrm>
            <a:off x="9380005" y="3988152"/>
            <a:ext cx="237744" cy="237744"/>
          </a:xfrm>
          <a:prstGeom prst="ellipse">
            <a:avLst/>
          </a:prstGeom>
          <a:solidFill>
            <a:srgbClr val="00B050"/>
          </a:solidFill>
          <a:ln/>
        </p:spPr>
        <p:txBody>
          <a:bodyPr/>
          <a:lstStyle/>
          <a:p>
            <a:endParaRPr lang="en-IN"/>
          </a:p>
        </p:txBody>
      </p:sp>
      <p:sp>
        <p:nvSpPr>
          <p:cNvPr id="8" name="Text 5"/>
          <p:cNvSpPr/>
          <p:nvPr/>
        </p:nvSpPr>
        <p:spPr>
          <a:xfrm>
            <a:off x="9803677" y="3944609"/>
            <a:ext cx="2285563" cy="503357"/>
          </a:xfrm>
          <a:prstGeom prst="rect">
            <a:avLst/>
          </a:prstGeom>
          <a:noFill/>
          <a:ln/>
        </p:spPr>
        <p:txBody>
          <a:bodyPr wrap="square" lIns="0" tIns="0" rIns="0" bIns="0" rtlCol="0" anchor="t"/>
          <a:lstStyle/>
          <a:p>
            <a:pPr marL="0" indent="0">
              <a:lnSpc>
                <a:spcPct val="103000"/>
              </a:lnSpc>
              <a:buNone/>
            </a:pPr>
            <a:r>
              <a:rPr lang="en-US" sz="1250" b="1" dirty="0">
                <a:solidFill>
                  <a:srgbClr val="00B050"/>
                </a:solidFill>
                <a:latin typeface="Calibri" pitchFamily="34" charset="0"/>
                <a:ea typeface="Calibri" pitchFamily="34" charset="-122"/>
                <a:cs typeface="Calibri" pitchFamily="34" charset="-120"/>
              </a:rPr>
              <a:t>Length of Stay :</a:t>
            </a:r>
            <a:r>
              <a:rPr lang="en-US" sz="1250" b="1" dirty="0">
                <a:solidFill>
                  <a:srgbClr val="2B5CE6"/>
                </a:solidFill>
                <a:latin typeface="Calibri" pitchFamily="34" charset="0"/>
                <a:ea typeface="Calibri" pitchFamily="34" charset="-122"/>
                <a:cs typeface="Calibri" pitchFamily="34" charset="-120"/>
              </a:rPr>
              <a:t>  </a:t>
            </a:r>
            <a:r>
              <a:rPr lang="en-US" sz="1250" b="1" dirty="0">
                <a:solidFill>
                  <a:srgbClr val="1C2233"/>
                </a:solidFill>
                <a:latin typeface="Calibri" pitchFamily="34" charset="0"/>
                <a:ea typeface="Calibri" pitchFamily="34" charset="-122"/>
                <a:cs typeface="Calibri" pitchFamily="34" charset="-120"/>
              </a:rPr>
              <a:t>1.7 Days </a:t>
            </a:r>
            <a:r>
              <a:rPr lang="en-US" sz="1250" dirty="0">
                <a:solidFill>
                  <a:srgbClr val="1C2233"/>
                </a:solidFill>
                <a:latin typeface="Calibri" pitchFamily="34" charset="0"/>
                <a:ea typeface="Calibri" pitchFamily="34" charset="-122"/>
                <a:cs typeface="Calibri" pitchFamily="34" charset="-120"/>
              </a:rPr>
              <a:t>is the average stay length of the bookings</a:t>
            </a:r>
            <a:endParaRPr lang="en-US" sz="1250" b="1" dirty="0"/>
          </a:p>
        </p:txBody>
      </p:sp>
      <p:sp>
        <p:nvSpPr>
          <p:cNvPr id="9" name="Shape 6"/>
          <p:cNvSpPr/>
          <p:nvPr/>
        </p:nvSpPr>
        <p:spPr>
          <a:xfrm>
            <a:off x="9394998" y="5681657"/>
            <a:ext cx="237744" cy="237744"/>
          </a:xfrm>
          <a:prstGeom prst="ellipse">
            <a:avLst/>
          </a:prstGeom>
          <a:solidFill>
            <a:srgbClr val="1FA8C9"/>
          </a:solidFill>
          <a:ln/>
        </p:spPr>
        <p:txBody>
          <a:bodyPr/>
          <a:lstStyle/>
          <a:p>
            <a:endParaRPr lang="en-IN" dirty="0"/>
          </a:p>
        </p:txBody>
      </p:sp>
      <p:sp>
        <p:nvSpPr>
          <p:cNvPr id="10" name="Text 7"/>
          <p:cNvSpPr/>
          <p:nvPr/>
        </p:nvSpPr>
        <p:spPr>
          <a:xfrm>
            <a:off x="9813008" y="5681657"/>
            <a:ext cx="2285564" cy="822960"/>
          </a:xfrm>
          <a:prstGeom prst="rect">
            <a:avLst/>
          </a:prstGeom>
          <a:noFill/>
          <a:ln/>
        </p:spPr>
        <p:txBody>
          <a:bodyPr wrap="square" lIns="0" tIns="0" rIns="0" bIns="0" rtlCol="0" anchor="t"/>
          <a:lstStyle/>
          <a:p>
            <a:pPr>
              <a:lnSpc>
                <a:spcPct val="103000"/>
              </a:lnSpc>
            </a:pPr>
            <a:r>
              <a:rPr lang="en-US" sz="1250" b="1" dirty="0">
                <a:solidFill>
                  <a:srgbClr val="1FA8C9"/>
                </a:solidFill>
                <a:latin typeface="Calibri" pitchFamily="34" charset="0"/>
                <a:ea typeface="Calibri" pitchFamily="34" charset="-122"/>
                <a:cs typeface="Calibri" pitchFamily="34" charset="-120"/>
              </a:rPr>
              <a:t>Concentrated :  </a:t>
            </a:r>
            <a:r>
              <a:rPr lang="en-IN" sz="1250" dirty="0">
                <a:solidFill>
                  <a:srgbClr val="1C2233"/>
                </a:solidFill>
                <a:latin typeface="Calibri" pitchFamily="34" charset="0"/>
                <a:ea typeface="Calibri" pitchFamily="34" charset="-122"/>
                <a:cs typeface="Calibri" pitchFamily="34" charset="-120"/>
              </a:rPr>
              <a:t>City C &amp; D command ~2x the rate of City A; chain hotels carry a 55% premium.</a:t>
            </a:r>
            <a:endParaRPr lang="en-US" sz="1250" dirty="0">
              <a:solidFill>
                <a:srgbClr val="1C2233"/>
              </a:solidFill>
              <a:latin typeface="Calibri" pitchFamily="34" charset="0"/>
              <a:ea typeface="Calibri" pitchFamily="34" charset="-122"/>
              <a:cs typeface="Calibri" pitchFamily="34" charset="-120"/>
            </a:endParaRPr>
          </a:p>
        </p:txBody>
      </p:sp>
      <p:sp>
        <p:nvSpPr>
          <p:cNvPr id="11" name="Shape 8"/>
          <p:cNvSpPr/>
          <p:nvPr/>
        </p:nvSpPr>
        <p:spPr>
          <a:xfrm>
            <a:off x="9385668" y="3120848"/>
            <a:ext cx="237744" cy="237744"/>
          </a:xfrm>
          <a:prstGeom prst="ellipse">
            <a:avLst/>
          </a:prstGeom>
          <a:solidFill>
            <a:srgbClr val="FF9900"/>
          </a:solidFill>
          <a:ln/>
        </p:spPr>
        <p:txBody>
          <a:bodyPr/>
          <a:lstStyle/>
          <a:p>
            <a:endParaRPr lang="en-IN"/>
          </a:p>
        </p:txBody>
      </p:sp>
      <p:sp>
        <p:nvSpPr>
          <p:cNvPr id="12" name="Text 9"/>
          <p:cNvSpPr/>
          <p:nvPr/>
        </p:nvSpPr>
        <p:spPr>
          <a:xfrm>
            <a:off x="9813007" y="4835800"/>
            <a:ext cx="2276233" cy="649915"/>
          </a:xfrm>
          <a:prstGeom prst="rect">
            <a:avLst/>
          </a:prstGeom>
          <a:noFill/>
          <a:ln/>
        </p:spPr>
        <p:txBody>
          <a:bodyPr wrap="square" lIns="0" tIns="0" rIns="0" bIns="0" rtlCol="0" anchor="t"/>
          <a:lstStyle/>
          <a:p>
            <a:pPr marL="0" indent="0">
              <a:lnSpc>
                <a:spcPct val="103000"/>
              </a:lnSpc>
              <a:buNone/>
            </a:pPr>
            <a:r>
              <a:rPr lang="en-US" sz="1250" b="1" dirty="0">
                <a:solidFill>
                  <a:srgbClr val="7030A0"/>
                </a:solidFill>
                <a:latin typeface="Calibri" pitchFamily="34" charset="0"/>
                <a:ea typeface="Calibri" pitchFamily="34" charset="-122"/>
                <a:cs typeface="Calibri" pitchFamily="34" charset="-120"/>
              </a:rPr>
              <a:t>Late-funnel</a:t>
            </a:r>
            <a:r>
              <a:rPr lang="en-US" sz="1250" b="1" dirty="0">
                <a:solidFill>
                  <a:schemeClr val="accent1"/>
                </a:solidFill>
                <a:latin typeface="Calibri" pitchFamily="34" charset="0"/>
                <a:ea typeface="Calibri" pitchFamily="34" charset="-122"/>
                <a:cs typeface="Calibri" pitchFamily="34" charset="-120"/>
              </a:rPr>
              <a:t> </a:t>
            </a:r>
            <a:r>
              <a:rPr lang="en-US" sz="1250" b="1" dirty="0">
                <a:solidFill>
                  <a:srgbClr val="7030A0"/>
                </a:solidFill>
                <a:latin typeface="Calibri" pitchFamily="34" charset="0"/>
                <a:ea typeface="Calibri" pitchFamily="34" charset="-122"/>
                <a:cs typeface="Calibri" pitchFamily="34" charset="-120"/>
              </a:rPr>
              <a:t>:</a:t>
            </a:r>
            <a:r>
              <a:rPr lang="en-US" sz="1250" b="1" dirty="0">
                <a:solidFill>
                  <a:srgbClr val="FF9900"/>
                </a:solidFill>
                <a:latin typeface="Calibri" pitchFamily="34" charset="0"/>
                <a:ea typeface="Calibri" pitchFamily="34" charset="-122"/>
                <a:cs typeface="Calibri" pitchFamily="34" charset="-120"/>
              </a:rPr>
              <a:t>  </a:t>
            </a:r>
            <a:r>
              <a:rPr lang="en-US" sz="1250" dirty="0">
                <a:solidFill>
                  <a:srgbClr val="1C2233"/>
                </a:solidFill>
                <a:latin typeface="Calibri" pitchFamily="34" charset="0"/>
                <a:ea typeface="Calibri" pitchFamily="34" charset="-122"/>
                <a:cs typeface="Calibri" pitchFamily="34" charset="-120"/>
              </a:rPr>
              <a:t>Half of all bookings happen within 8 days of check-in.</a:t>
            </a:r>
            <a:endParaRPr lang="en-US" sz="1250" dirty="0"/>
          </a:p>
        </p:txBody>
      </p:sp>
      <p:pic>
        <p:nvPicPr>
          <p:cNvPr id="15" name="Picture 14">
            <a:extLst>
              <a:ext uri="{FF2B5EF4-FFF2-40B4-BE49-F238E27FC236}">
                <a16:creationId xmlns:a16="http://schemas.microsoft.com/office/drawing/2014/main" id="{0D1C1EA9-F0DA-D7A1-1D05-E6547A533939}"/>
              </a:ext>
            </a:extLst>
          </p:cNvPr>
          <p:cNvPicPr>
            <a:picLocks noChangeAspect="1"/>
          </p:cNvPicPr>
          <p:nvPr/>
        </p:nvPicPr>
        <p:blipFill>
          <a:blip r:embed="rId3"/>
          <a:stretch>
            <a:fillRect/>
          </a:stretch>
        </p:blipFill>
        <p:spPr>
          <a:xfrm>
            <a:off x="10813872" y="-44952"/>
            <a:ext cx="1376825" cy="903197"/>
          </a:xfrm>
          <a:prstGeom prst="rect">
            <a:avLst/>
          </a:prstGeom>
        </p:spPr>
      </p:pic>
      <p:sp>
        <p:nvSpPr>
          <p:cNvPr id="16" name="Text 5">
            <a:extLst>
              <a:ext uri="{FF2B5EF4-FFF2-40B4-BE49-F238E27FC236}">
                <a16:creationId xmlns:a16="http://schemas.microsoft.com/office/drawing/2014/main" id="{3846AFBE-6ED1-1831-51B5-37970C234951}"/>
              </a:ext>
            </a:extLst>
          </p:cNvPr>
          <p:cNvSpPr/>
          <p:nvPr/>
        </p:nvSpPr>
        <p:spPr>
          <a:xfrm>
            <a:off x="9803677" y="3105977"/>
            <a:ext cx="2285563" cy="439916"/>
          </a:xfrm>
          <a:prstGeom prst="rect">
            <a:avLst/>
          </a:prstGeom>
          <a:noFill/>
          <a:ln/>
        </p:spPr>
        <p:txBody>
          <a:bodyPr wrap="square" lIns="0" tIns="0" rIns="0" bIns="0" rtlCol="0" anchor="t"/>
          <a:lstStyle/>
          <a:p>
            <a:pPr marL="0" indent="0">
              <a:lnSpc>
                <a:spcPct val="103000"/>
              </a:lnSpc>
              <a:buNone/>
            </a:pPr>
            <a:r>
              <a:rPr lang="en-US" sz="1250" b="1" dirty="0">
                <a:solidFill>
                  <a:srgbClr val="FF9900"/>
                </a:solidFill>
                <a:latin typeface="Calibri" pitchFamily="34" charset="0"/>
                <a:ea typeface="Calibri" pitchFamily="34" charset="-122"/>
                <a:cs typeface="Calibri" pitchFamily="34" charset="-120"/>
              </a:rPr>
              <a:t>High intent, late funnel :</a:t>
            </a:r>
            <a:r>
              <a:rPr lang="en-US" sz="1250" b="1" dirty="0">
                <a:solidFill>
                  <a:srgbClr val="2B5CE6"/>
                </a:solidFill>
                <a:latin typeface="Calibri" pitchFamily="34" charset="0"/>
                <a:ea typeface="Calibri" pitchFamily="34" charset="-122"/>
                <a:cs typeface="Calibri" pitchFamily="34" charset="-120"/>
              </a:rPr>
              <a:t>  </a:t>
            </a:r>
            <a:r>
              <a:rPr lang="en-US" sz="1250" b="1" dirty="0">
                <a:solidFill>
                  <a:srgbClr val="1C2233"/>
                </a:solidFill>
                <a:latin typeface="Calibri" pitchFamily="34" charset="0"/>
                <a:ea typeface="Calibri" pitchFamily="34" charset="-122"/>
                <a:cs typeface="Calibri" pitchFamily="34" charset="-120"/>
              </a:rPr>
              <a:t>47.9% </a:t>
            </a:r>
            <a:br>
              <a:rPr lang="en-US" sz="1250" b="1" dirty="0">
                <a:solidFill>
                  <a:srgbClr val="1C2233"/>
                </a:solidFill>
                <a:latin typeface="Calibri" pitchFamily="34" charset="0"/>
                <a:ea typeface="Calibri" pitchFamily="34" charset="-122"/>
                <a:cs typeface="Calibri" pitchFamily="34" charset="-120"/>
              </a:rPr>
            </a:br>
            <a:r>
              <a:rPr lang="en-US" sz="1250" dirty="0">
                <a:solidFill>
                  <a:srgbClr val="1C2233"/>
                </a:solidFill>
                <a:latin typeface="Calibri" pitchFamily="34" charset="0"/>
                <a:ea typeface="Calibri" pitchFamily="34" charset="-122"/>
                <a:cs typeface="Calibri" pitchFamily="34" charset="-120"/>
              </a:rPr>
              <a:t>book within 8 days of check-in date</a:t>
            </a:r>
            <a:endParaRPr lang="en-US" sz="1250" dirty="0"/>
          </a:p>
        </p:txBody>
      </p:sp>
      <p:sp>
        <p:nvSpPr>
          <p:cNvPr id="17" name="Shape 4">
            <a:extLst>
              <a:ext uri="{FF2B5EF4-FFF2-40B4-BE49-F238E27FC236}">
                <a16:creationId xmlns:a16="http://schemas.microsoft.com/office/drawing/2014/main" id="{DE38CA47-345A-B13C-745A-B5109A3A2704}"/>
              </a:ext>
            </a:extLst>
          </p:cNvPr>
          <p:cNvSpPr/>
          <p:nvPr/>
        </p:nvSpPr>
        <p:spPr>
          <a:xfrm>
            <a:off x="9359410" y="2185790"/>
            <a:ext cx="237744" cy="237744"/>
          </a:xfrm>
          <a:prstGeom prst="ellipse">
            <a:avLst/>
          </a:prstGeom>
          <a:solidFill>
            <a:srgbClr val="FF0000"/>
          </a:solidFill>
          <a:ln/>
        </p:spPr>
        <p:txBody>
          <a:bodyPr/>
          <a:lstStyle/>
          <a:p>
            <a:endParaRPr lang="en-IN">
              <a:solidFill>
                <a:srgbClr val="FF0000"/>
              </a:solidFill>
            </a:endParaRPr>
          </a:p>
        </p:txBody>
      </p:sp>
      <p:sp>
        <p:nvSpPr>
          <p:cNvPr id="18" name="Text 5">
            <a:extLst>
              <a:ext uri="{FF2B5EF4-FFF2-40B4-BE49-F238E27FC236}">
                <a16:creationId xmlns:a16="http://schemas.microsoft.com/office/drawing/2014/main" id="{CAE5E839-F70D-444D-58B0-4364F08DB4CE}"/>
              </a:ext>
            </a:extLst>
          </p:cNvPr>
          <p:cNvSpPr/>
          <p:nvPr/>
        </p:nvSpPr>
        <p:spPr>
          <a:xfrm>
            <a:off x="9783082" y="2142247"/>
            <a:ext cx="2407615" cy="644948"/>
          </a:xfrm>
          <a:prstGeom prst="rect">
            <a:avLst/>
          </a:prstGeom>
          <a:noFill/>
          <a:ln/>
        </p:spPr>
        <p:txBody>
          <a:bodyPr wrap="square" lIns="0" tIns="0" rIns="0" bIns="0" rtlCol="0" anchor="t"/>
          <a:lstStyle/>
          <a:p>
            <a:pPr marL="0" indent="0">
              <a:lnSpc>
                <a:spcPct val="103000"/>
              </a:lnSpc>
              <a:buNone/>
            </a:pPr>
            <a:r>
              <a:rPr lang="en-US" sz="1250" b="1" dirty="0">
                <a:solidFill>
                  <a:srgbClr val="FF0000"/>
                </a:solidFill>
                <a:latin typeface="Calibri" pitchFamily="34" charset="0"/>
                <a:ea typeface="Calibri" pitchFamily="34" charset="-122"/>
                <a:cs typeface="Calibri" pitchFamily="34" charset="-120"/>
              </a:rPr>
              <a:t>Median over mean :</a:t>
            </a:r>
            <a:r>
              <a:rPr lang="en-US" sz="1250" b="1" dirty="0">
                <a:solidFill>
                  <a:srgbClr val="2B5CE6"/>
                </a:solidFill>
                <a:latin typeface="Calibri" pitchFamily="34" charset="0"/>
                <a:ea typeface="Calibri" pitchFamily="34" charset="-122"/>
                <a:cs typeface="Calibri" pitchFamily="34" charset="-120"/>
              </a:rPr>
              <a:t> </a:t>
            </a:r>
            <a:r>
              <a:rPr lang="en-US" sz="1250" dirty="0">
                <a:solidFill>
                  <a:srgbClr val="1C2233"/>
                </a:solidFill>
                <a:latin typeface="Calibri" pitchFamily="34" charset="0"/>
                <a:ea typeface="Calibri" pitchFamily="34" charset="-122"/>
                <a:cs typeface="Calibri" pitchFamily="34" charset="-120"/>
              </a:rPr>
              <a:t>$148 avg vs $114 median - a luxury tail inflates the average.</a:t>
            </a:r>
            <a:endParaRPr lang="en-US" sz="1250" dirty="0"/>
          </a:p>
        </p:txBody>
      </p:sp>
      <p:sp>
        <p:nvSpPr>
          <p:cNvPr id="22" name="Shape 4">
            <a:extLst>
              <a:ext uri="{FF2B5EF4-FFF2-40B4-BE49-F238E27FC236}">
                <a16:creationId xmlns:a16="http://schemas.microsoft.com/office/drawing/2014/main" id="{57399A16-49FA-352F-32E3-C8B3E364BA06}"/>
              </a:ext>
            </a:extLst>
          </p:cNvPr>
          <p:cNvSpPr/>
          <p:nvPr/>
        </p:nvSpPr>
        <p:spPr>
          <a:xfrm>
            <a:off x="9394998" y="4853659"/>
            <a:ext cx="237744" cy="237744"/>
          </a:xfrm>
          <a:prstGeom prst="ellipse">
            <a:avLst/>
          </a:prstGeom>
          <a:solidFill>
            <a:srgbClr val="7030A0"/>
          </a:solidFill>
          <a:ln/>
        </p:spPr>
        <p:txBody>
          <a:bodyPr/>
          <a:lstStyle/>
          <a:p>
            <a:endParaRPr lang="en-IN"/>
          </a:p>
        </p:txBody>
      </p:sp>
      <p:pic>
        <p:nvPicPr>
          <p:cNvPr id="5" name="Picture 4">
            <a:extLst>
              <a:ext uri="{FF2B5EF4-FFF2-40B4-BE49-F238E27FC236}">
                <a16:creationId xmlns:a16="http://schemas.microsoft.com/office/drawing/2014/main" id="{C08D68F8-F1CE-1AD2-1CEA-951D8FFDA42E}"/>
              </a:ext>
            </a:extLst>
          </p:cNvPr>
          <p:cNvPicPr>
            <a:picLocks noChangeAspect="1"/>
          </p:cNvPicPr>
          <p:nvPr/>
        </p:nvPicPr>
        <p:blipFill>
          <a:blip r:embed="rId4"/>
          <a:stretch>
            <a:fillRect/>
          </a:stretch>
        </p:blipFill>
        <p:spPr>
          <a:xfrm>
            <a:off x="313158" y="1304549"/>
            <a:ext cx="8667494" cy="53740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marL="0" indent="0">
              <a:buNone/>
            </a:pPr>
            <a:r>
              <a:rPr lang="en-US" sz="1200" b="1" kern="0" spc="200" dirty="0">
                <a:solidFill>
                  <a:srgbClr val="E5326E"/>
                </a:solidFill>
                <a:latin typeface="Calibri" pitchFamily="34" charset="0"/>
                <a:ea typeface="Calibri" pitchFamily="34" charset="-122"/>
                <a:cs typeface="Calibri" pitchFamily="34" charset="-120"/>
              </a:rPr>
              <a:t>02  ·  THE NAIVE VIEW</a:t>
            </a:r>
            <a:endParaRPr lang="en-US" sz="12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C2233"/>
                </a:solidFill>
                <a:latin typeface="Calibri" pitchFamily="34" charset="0"/>
                <a:ea typeface="Calibri" pitchFamily="34" charset="-122"/>
                <a:cs typeface="Calibri" pitchFamily="34" charset="-120"/>
              </a:rPr>
              <a:t>The tempting first look : prices appear to drop toward check-in </a:t>
            </a:r>
            <a:endParaRPr lang="en-US" sz="3200" dirty="0"/>
          </a:p>
        </p:txBody>
      </p:sp>
      <p:sp>
        <p:nvSpPr>
          <p:cNvPr id="4" name="Text 2"/>
          <p:cNvSpPr/>
          <p:nvPr/>
        </p:nvSpPr>
        <p:spPr>
          <a:xfrm>
            <a:off x="566928" y="1508760"/>
            <a:ext cx="11064240" cy="457200"/>
          </a:xfrm>
          <a:prstGeom prst="rect">
            <a:avLst/>
          </a:prstGeom>
          <a:noFill/>
          <a:ln/>
        </p:spPr>
        <p:txBody>
          <a:bodyPr wrap="square" lIns="0" tIns="0" rIns="0" bIns="0" rtlCol="0" anchor="ctr"/>
          <a:lstStyle/>
          <a:p>
            <a:pPr marL="0" indent="0">
              <a:buNone/>
            </a:pPr>
            <a:r>
              <a:rPr lang="en-US" sz="1500" i="1" dirty="0">
                <a:solidFill>
                  <a:srgbClr val="E5326E"/>
                </a:solidFill>
                <a:latin typeface="Calibri Light" pitchFamily="34" charset="0"/>
                <a:ea typeface="Calibri Light" pitchFamily="34" charset="-122"/>
                <a:cs typeface="Calibri Light" pitchFamily="34" charset="-120"/>
              </a:rPr>
              <a:t>ADR appears ~39.5% higher far out and lower toward check-in : the apparent case for urgency.</a:t>
            </a:r>
            <a:endParaRPr lang="en-US" sz="1500" dirty="0"/>
          </a:p>
        </p:txBody>
      </p:sp>
      <p:sp>
        <p:nvSpPr>
          <p:cNvPr id="5" name="Shape 3"/>
          <p:cNvSpPr/>
          <p:nvPr/>
        </p:nvSpPr>
        <p:spPr>
          <a:xfrm>
            <a:off x="548640" y="2205446"/>
            <a:ext cx="4754880" cy="3931920"/>
          </a:xfrm>
          <a:prstGeom prst="rect">
            <a:avLst/>
          </a:prstGeom>
          <a:solidFill>
            <a:srgbClr val="10239E"/>
          </a:solidFill>
          <a:ln/>
        </p:spPr>
        <p:txBody>
          <a:bodyPr/>
          <a:lstStyle/>
          <a:p>
            <a:endParaRPr lang="en-IN"/>
          </a:p>
        </p:txBody>
      </p:sp>
      <p:sp>
        <p:nvSpPr>
          <p:cNvPr id="6" name="Text 4"/>
          <p:cNvSpPr/>
          <p:nvPr/>
        </p:nvSpPr>
        <p:spPr>
          <a:xfrm>
            <a:off x="841248" y="2286857"/>
            <a:ext cx="4206240" cy="1170665"/>
          </a:xfrm>
          <a:prstGeom prst="rect">
            <a:avLst/>
          </a:prstGeom>
          <a:noFill/>
          <a:ln/>
        </p:spPr>
        <p:txBody>
          <a:bodyPr wrap="square" lIns="0" tIns="0" rIns="0" bIns="0" rtlCol="0" anchor="ctr"/>
          <a:lstStyle/>
          <a:p>
            <a:r>
              <a:rPr lang="en-IN" sz="3400" b="1" dirty="0">
                <a:solidFill>
                  <a:srgbClr val="FF9900"/>
                </a:solidFill>
                <a:latin typeface="Calibri" pitchFamily="34" charset="0"/>
                <a:ea typeface="Calibri" pitchFamily="34" charset="-122"/>
                <a:cs typeface="Calibri" pitchFamily="34" charset="-120"/>
              </a:rPr>
              <a:t>-$0.974 / day × 60 days = −$58 swing (−39.5%)</a:t>
            </a:r>
          </a:p>
        </p:txBody>
      </p:sp>
      <p:sp>
        <p:nvSpPr>
          <p:cNvPr id="7" name="Text 5"/>
          <p:cNvSpPr/>
          <p:nvPr/>
        </p:nvSpPr>
        <p:spPr>
          <a:xfrm>
            <a:off x="841248" y="3544389"/>
            <a:ext cx="4206240" cy="457200"/>
          </a:xfrm>
          <a:prstGeom prst="rect">
            <a:avLst/>
          </a:prstGeom>
          <a:noFill/>
          <a:ln/>
        </p:spPr>
        <p:txBody>
          <a:bodyPr wrap="square" lIns="0" tIns="0" rIns="0" bIns="0" rtlCol="0" anchor="ctr"/>
          <a:lstStyle/>
          <a:p>
            <a:r>
              <a:rPr lang="en-US" sz="1300" dirty="0">
                <a:solidFill>
                  <a:srgbClr val="E3ECFB"/>
                </a:solidFill>
                <a:latin typeface="Calibri" pitchFamily="34" charset="0"/>
                <a:ea typeface="Calibri" pitchFamily="34" charset="-122"/>
                <a:cs typeface="Calibri" pitchFamily="34" charset="-120"/>
              </a:rPr>
              <a:t>Implied ADR move across 60 to 0 days before check-in</a:t>
            </a:r>
            <a:endParaRPr lang="en-US" sz="1300" dirty="0"/>
          </a:p>
        </p:txBody>
      </p:sp>
      <p:sp>
        <p:nvSpPr>
          <p:cNvPr id="11" name="Shape 8"/>
          <p:cNvSpPr/>
          <p:nvPr/>
        </p:nvSpPr>
        <p:spPr>
          <a:xfrm>
            <a:off x="5577840" y="5897880"/>
            <a:ext cx="109728" cy="914400"/>
          </a:xfrm>
          <a:prstGeom prst="rect">
            <a:avLst/>
          </a:prstGeom>
          <a:solidFill>
            <a:srgbClr val="E5326E"/>
          </a:solidFill>
          <a:ln/>
        </p:spPr>
        <p:txBody>
          <a:bodyPr/>
          <a:lstStyle/>
          <a:p>
            <a:endParaRPr lang="en-IN"/>
          </a:p>
        </p:txBody>
      </p:sp>
      <p:sp>
        <p:nvSpPr>
          <p:cNvPr id="12" name="Text 9"/>
          <p:cNvSpPr/>
          <p:nvPr/>
        </p:nvSpPr>
        <p:spPr>
          <a:xfrm>
            <a:off x="5833872" y="5879592"/>
            <a:ext cx="5760720" cy="960120"/>
          </a:xfrm>
          <a:prstGeom prst="rect">
            <a:avLst/>
          </a:prstGeom>
          <a:noFill/>
          <a:ln/>
        </p:spPr>
        <p:txBody>
          <a:bodyPr wrap="square" lIns="0" tIns="0" rIns="0" bIns="0" rtlCol="0" anchor="ctr"/>
          <a:lstStyle/>
          <a:p>
            <a:pPr marL="0" indent="0">
              <a:lnSpc>
                <a:spcPct val="105000"/>
              </a:lnSpc>
              <a:buNone/>
            </a:pPr>
            <a:r>
              <a:rPr lang="en-US" sz="1350" b="1" dirty="0">
                <a:solidFill>
                  <a:srgbClr val="E5326E"/>
                </a:solidFill>
                <a:latin typeface="Calibri" pitchFamily="34" charset="0"/>
                <a:ea typeface="Calibri" pitchFamily="34" charset="-122"/>
                <a:cs typeface="Calibri" pitchFamily="34" charset="-120"/>
              </a:rPr>
              <a:t>R² = 0.013.  </a:t>
            </a:r>
            <a:r>
              <a:rPr lang="en-US" sz="1350" dirty="0">
                <a:solidFill>
                  <a:srgbClr val="1C2233"/>
                </a:solidFill>
                <a:latin typeface="Calibri" pitchFamily="34" charset="0"/>
                <a:ea typeface="Calibri" pitchFamily="34" charset="-122"/>
                <a:cs typeface="Calibri" pitchFamily="34" charset="-120"/>
              </a:rPr>
              <a:t>Booking Window explains barely 1% of price. Something structural is doing the real work.</a:t>
            </a:r>
            <a:endParaRPr lang="en-US" sz="1350" dirty="0"/>
          </a:p>
        </p:txBody>
      </p:sp>
      <p:sp>
        <p:nvSpPr>
          <p:cNvPr id="13" name="Text 7">
            <a:extLst>
              <a:ext uri="{FF2B5EF4-FFF2-40B4-BE49-F238E27FC236}">
                <a16:creationId xmlns:a16="http://schemas.microsoft.com/office/drawing/2014/main" id="{923A3857-2AAE-06C1-7460-E445E4A372DF}"/>
              </a:ext>
            </a:extLst>
          </p:cNvPr>
          <p:cNvSpPr/>
          <p:nvPr/>
        </p:nvSpPr>
        <p:spPr>
          <a:xfrm>
            <a:off x="5740400" y="1864360"/>
            <a:ext cx="6583680" cy="320040"/>
          </a:xfrm>
          <a:prstGeom prst="rect">
            <a:avLst/>
          </a:prstGeom>
          <a:noFill/>
          <a:ln/>
        </p:spPr>
        <p:txBody>
          <a:bodyPr wrap="square" rtlCol="0" anchor="ctr"/>
          <a:lstStyle/>
          <a:p>
            <a:pPr marL="0" indent="0" algn="ctr">
              <a:buNone/>
            </a:pPr>
            <a:r>
              <a:rPr lang="en-US" sz="1400" b="1" dirty="0">
                <a:solidFill>
                  <a:srgbClr val="1C2233"/>
                </a:solidFill>
                <a:latin typeface="Calibri" pitchFamily="34" charset="0"/>
                <a:ea typeface="Calibri" pitchFamily="34" charset="-122"/>
                <a:cs typeface="Calibri" pitchFamily="34" charset="-120"/>
              </a:rPr>
              <a:t>M1 : ADR vs booking window (every booking)</a:t>
            </a:r>
            <a:endParaRPr lang="en-US" sz="1400" dirty="0"/>
          </a:p>
        </p:txBody>
      </p:sp>
      <p:sp>
        <p:nvSpPr>
          <p:cNvPr id="9" name="Text 6">
            <a:extLst>
              <a:ext uri="{FF2B5EF4-FFF2-40B4-BE49-F238E27FC236}">
                <a16:creationId xmlns:a16="http://schemas.microsoft.com/office/drawing/2014/main" id="{CF006DE4-D0D7-6C3E-8BB8-8512DEFDE0EB}"/>
              </a:ext>
            </a:extLst>
          </p:cNvPr>
          <p:cNvSpPr/>
          <p:nvPr/>
        </p:nvSpPr>
        <p:spPr>
          <a:xfrm>
            <a:off x="841248" y="3977640"/>
            <a:ext cx="4297680" cy="1828800"/>
          </a:xfrm>
          <a:prstGeom prst="rect">
            <a:avLst/>
          </a:prstGeom>
          <a:noFill/>
          <a:ln/>
        </p:spPr>
        <p:txBody>
          <a:bodyPr wrap="square" lIns="0" tIns="0" rIns="0" bIns="0" rtlCol="0" anchor="ctr"/>
          <a:lstStyle/>
          <a:p>
            <a:pPr marL="0" indent="0">
              <a:lnSpc>
                <a:spcPct val="115000"/>
              </a:lnSpc>
              <a:buNone/>
            </a:pPr>
            <a:r>
              <a:rPr lang="en-US" sz="1400" b="1" dirty="0">
                <a:solidFill>
                  <a:srgbClr val="1FA8C9"/>
                </a:solidFill>
                <a:latin typeface="Calibri" pitchFamily="34" charset="0"/>
                <a:ea typeface="Calibri" pitchFamily="34" charset="-122"/>
                <a:cs typeface="Calibri" pitchFamily="34" charset="-120"/>
              </a:rPr>
              <a:t>The trap:  </a:t>
            </a:r>
            <a:r>
              <a:rPr lang="en-US" sz="1400" b="1" dirty="0">
                <a:solidFill>
                  <a:srgbClr val="E3ECFB"/>
                </a:solidFill>
                <a:latin typeface="Calibri" pitchFamily="34" charset="0"/>
                <a:ea typeface="Calibri" pitchFamily="34" charset="-122"/>
                <a:cs typeface="Calibri" pitchFamily="34" charset="-120"/>
              </a:rPr>
              <a:t>T</a:t>
            </a:r>
            <a:r>
              <a:rPr lang="en-US" sz="1400" dirty="0">
                <a:solidFill>
                  <a:srgbClr val="E3ECFB"/>
                </a:solidFill>
                <a:latin typeface="Calibri" pitchFamily="34" charset="0"/>
                <a:ea typeface="Calibri" pitchFamily="34" charset="-122"/>
                <a:cs typeface="Calibri" pitchFamily="34" charset="-120"/>
              </a:rPr>
              <a:t>his compares different bookings for different hotels. Reading 60 days out down to check-in, the raw line slopes down, so prices look  </a:t>
            </a:r>
            <a:r>
              <a:rPr lang="en-US" sz="1400" b="1" dirty="0">
                <a:solidFill>
                  <a:srgbClr val="FF9900"/>
                </a:solidFill>
                <a:latin typeface="Calibri" pitchFamily="34" charset="0"/>
                <a:ea typeface="Calibri" pitchFamily="34" charset="-122"/>
                <a:cs typeface="Calibri" pitchFamily="34" charset="-120"/>
              </a:rPr>
              <a:t>lower</a:t>
            </a:r>
            <a:r>
              <a:rPr lang="en-US" sz="1400" dirty="0">
                <a:solidFill>
                  <a:srgbClr val="E3ECFB"/>
                </a:solidFill>
                <a:latin typeface="Calibri" pitchFamily="34" charset="0"/>
                <a:ea typeface="Calibri" pitchFamily="34" charset="-122"/>
                <a:cs typeface="Calibri" pitchFamily="34" charset="-120"/>
              </a:rPr>
              <a:t> near check-in : so “prices are rising” is already wrong for the average guest.</a:t>
            </a:r>
            <a:endParaRPr lang="en-US" sz="1400" dirty="0"/>
          </a:p>
        </p:txBody>
      </p:sp>
      <p:pic>
        <p:nvPicPr>
          <p:cNvPr id="8" name="Picture 7">
            <a:extLst>
              <a:ext uri="{FF2B5EF4-FFF2-40B4-BE49-F238E27FC236}">
                <a16:creationId xmlns:a16="http://schemas.microsoft.com/office/drawing/2014/main" id="{E79011B4-56E0-EB88-7949-616682850BCF}"/>
              </a:ext>
            </a:extLst>
          </p:cNvPr>
          <p:cNvPicPr>
            <a:picLocks noChangeAspect="1"/>
          </p:cNvPicPr>
          <p:nvPr/>
        </p:nvPicPr>
        <p:blipFill>
          <a:blip r:embed="rId3"/>
          <a:stretch>
            <a:fillRect/>
          </a:stretch>
        </p:blipFill>
        <p:spPr>
          <a:xfrm>
            <a:off x="10813872" y="-44952"/>
            <a:ext cx="1376825" cy="903197"/>
          </a:xfrm>
          <a:prstGeom prst="rect">
            <a:avLst/>
          </a:prstGeom>
        </p:spPr>
      </p:pic>
      <p:pic>
        <p:nvPicPr>
          <p:cNvPr id="15" name="Picture 14">
            <a:extLst>
              <a:ext uri="{FF2B5EF4-FFF2-40B4-BE49-F238E27FC236}">
                <a16:creationId xmlns:a16="http://schemas.microsoft.com/office/drawing/2014/main" id="{F169E688-4F0F-885D-58FD-56586A6701AA}"/>
              </a:ext>
            </a:extLst>
          </p:cNvPr>
          <p:cNvPicPr>
            <a:picLocks noChangeAspect="1"/>
          </p:cNvPicPr>
          <p:nvPr/>
        </p:nvPicPr>
        <p:blipFill>
          <a:blip r:embed="rId4"/>
          <a:stretch>
            <a:fillRect/>
          </a:stretch>
        </p:blipFill>
        <p:spPr>
          <a:xfrm>
            <a:off x="5901139" y="2321560"/>
            <a:ext cx="5626185" cy="34575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200" dirty="0">
                <a:solidFill>
                  <a:srgbClr val="10239E"/>
                </a:solidFill>
                <a:latin typeface="Calibri" pitchFamily="34" charset="0"/>
                <a:ea typeface="Calibri" pitchFamily="34" charset="-122"/>
                <a:cs typeface="Calibri" pitchFamily="34" charset="-120"/>
              </a:rPr>
              <a:t>03  ·  CONTROL FOR MIX</a:t>
            </a:r>
            <a:endParaRPr lang="en-US" sz="120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2800" b="1" dirty="0">
                <a:solidFill>
                  <a:srgbClr val="1C2233"/>
                </a:solidFill>
                <a:latin typeface="Calibri" pitchFamily="34" charset="0"/>
                <a:ea typeface="Calibri" pitchFamily="34" charset="-122"/>
                <a:cs typeface="Calibri" pitchFamily="34" charset="-120"/>
              </a:rPr>
              <a:t>Model 2 : Hold hotel quality and season constant</a:t>
            </a:r>
            <a:endParaRPr lang="en-US" sz="2800" dirty="0"/>
          </a:p>
        </p:txBody>
      </p:sp>
      <p:sp>
        <p:nvSpPr>
          <p:cNvPr id="4" name="Text 2"/>
          <p:cNvSpPr/>
          <p:nvPr/>
        </p:nvSpPr>
        <p:spPr>
          <a:xfrm>
            <a:off x="548640" y="1417320"/>
            <a:ext cx="11064240" cy="411480"/>
          </a:xfrm>
          <a:prstGeom prst="rect">
            <a:avLst/>
          </a:prstGeom>
          <a:noFill/>
          <a:ln/>
        </p:spPr>
        <p:txBody>
          <a:bodyPr wrap="square" rtlCol="0" anchor="ctr"/>
          <a:lstStyle/>
          <a:p>
            <a:pPr marL="0" indent="0">
              <a:buNone/>
            </a:pPr>
            <a:r>
              <a:rPr lang="en-US" sz="1500" i="1" dirty="0">
                <a:solidFill>
                  <a:srgbClr val="64748B"/>
                </a:solidFill>
                <a:latin typeface="Calibri" pitchFamily="34" charset="0"/>
                <a:ea typeface="Calibri" pitchFamily="34" charset="-122"/>
                <a:cs typeface="Calibri" pitchFamily="34" charset="-120"/>
              </a:rPr>
              <a:t>Add star rating, chain, weekend, length of stay, city and month. The timing effect shrinks toward zero ( -17%).</a:t>
            </a:r>
            <a:endParaRPr lang="en-US" sz="1500" dirty="0"/>
          </a:p>
        </p:txBody>
      </p:sp>
      <p:sp>
        <p:nvSpPr>
          <p:cNvPr id="6" name="Text 3"/>
          <p:cNvSpPr/>
          <p:nvPr/>
        </p:nvSpPr>
        <p:spPr>
          <a:xfrm>
            <a:off x="7498080" y="2240280"/>
            <a:ext cx="4114800" cy="457200"/>
          </a:xfrm>
          <a:prstGeom prst="rect">
            <a:avLst/>
          </a:prstGeom>
          <a:noFill/>
          <a:ln/>
        </p:spPr>
        <p:txBody>
          <a:bodyPr wrap="square" rtlCol="0" anchor="ctr"/>
          <a:lstStyle/>
          <a:p>
            <a:pPr marL="0" indent="0">
              <a:buNone/>
            </a:pPr>
            <a:r>
              <a:rPr lang="en-US" sz="2200" b="1" dirty="0">
                <a:solidFill>
                  <a:srgbClr val="10239E"/>
                </a:solidFill>
                <a:latin typeface="Calibri" pitchFamily="34" charset="0"/>
                <a:ea typeface="Calibri" pitchFamily="34" charset="-122"/>
                <a:cs typeface="Calibri" pitchFamily="34" charset="-120"/>
              </a:rPr>
              <a:t>-$0.974 → -$0.423 / day</a:t>
            </a:r>
            <a:endParaRPr lang="en-US" sz="2200" dirty="0"/>
          </a:p>
        </p:txBody>
      </p:sp>
      <p:sp>
        <p:nvSpPr>
          <p:cNvPr id="7" name="Text 4"/>
          <p:cNvSpPr/>
          <p:nvPr/>
        </p:nvSpPr>
        <p:spPr>
          <a:xfrm>
            <a:off x="7498080" y="2697480"/>
            <a:ext cx="4023360" cy="32004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the per-day effect (closer to check-in) after observable controls</a:t>
            </a:r>
            <a:endParaRPr lang="en-US" sz="1200" dirty="0"/>
          </a:p>
        </p:txBody>
      </p:sp>
      <p:sp>
        <p:nvSpPr>
          <p:cNvPr id="8" name="Shape 5"/>
          <p:cNvSpPr/>
          <p:nvPr/>
        </p:nvSpPr>
        <p:spPr>
          <a:xfrm>
            <a:off x="7498080" y="3335384"/>
            <a:ext cx="146304" cy="146304"/>
          </a:xfrm>
          <a:prstGeom prst="ellipse">
            <a:avLst/>
          </a:prstGeom>
          <a:solidFill>
            <a:srgbClr val="2B5CE6"/>
          </a:solidFill>
          <a:ln/>
        </p:spPr>
        <p:txBody>
          <a:bodyPr/>
          <a:lstStyle/>
          <a:p>
            <a:endParaRPr lang="en-IN"/>
          </a:p>
        </p:txBody>
      </p:sp>
      <p:sp>
        <p:nvSpPr>
          <p:cNvPr id="9" name="Text 6"/>
          <p:cNvSpPr/>
          <p:nvPr/>
        </p:nvSpPr>
        <p:spPr>
          <a:xfrm>
            <a:off x="7754112" y="3028409"/>
            <a:ext cx="3931920" cy="868680"/>
          </a:xfrm>
          <a:prstGeom prst="rect">
            <a:avLst/>
          </a:prstGeom>
          <a:noFill/>
          <a:ln/>
        </p:spPr>
        <p:txBody>
          <a:bodyPr wrap="square" rtlCol="0" anchor="ctr"/>
          <a:lstStyle/>
          <a:p>
            <a:pPr marL="0" indent="0">
              <a:lnSpc>
                <a:spcPct val="110000"/>
              </a:lnSpc>
              <a:buNone/>
            </a:pPr>
            <a:r>
              <a:rPr lang="en-US" sz="1200" b="1" dirty="0">
                <a:solidFill>
                  <a:srgbClr val="2B5CE6"/>
                </a:solidFill>
                <a:latin typeface="Calibri" pitchFamily="34" charset="0"/>
                <a:ea typeface="Calibri" pitchFamily="34" charset="-122"/>
                <a:cs typeface="Calibri" pitchFamily="34" charset="-120"/>
              </a:rPr>
              <a:t>Star rating dominates.  </a:t>
            </a:r>
            <a:r>
              <a:rPr lang="en-US" sz="1200" dirty="0">
                <a:solidFill>
                  <a:srgbClr val="1C2233"/>
                </a:solidFill>
                <a:latin typeface="Calibri" pitchFamily="34" charset="0"/>
                <a:ea typeface="Calibri" pitchFamily="34" charset="-122"/>
                <a:cs typeface="Calibri" pitchFamily="34" charset="-120"/>
              </a:rPr>
              <a:t>A star upgrade is worth ~$67, it dwarfs every other driver and is exactly what M1 ignored.</a:t>
            </a:r>
            <a:endParaRPr lang="en-US" sz="1200" dirty="0"/>
          </a:p>
        </p:txBody>
      </p:sp>
      <p:sp>
        <p:nvSpPr>
          <p:cNvPr id="10" name="Shape 7"/>
          <p:cNvSpPr/>
          <p:nvPr/>
        </p:nvSpPr>
        <p:spPr>
          <a:xfrm>
            <a:off x="7498080" y="4251960"/>
            <a:ext cx="146304" cy="146304"/>
          </a:xfrm>
          <a:prstGeom prst="ellipse">
            <a:avLst/>
          </a:prstGeom>
          <a:solidFill>
            <a:srgbClr val="E5326E"/>
          </a:solidFill>
          <a:ln/>
        </p:spPr>
        <p:txBody>
          <a:bodyPr/>
          <a:lstStyle/>
          <a:p>
            <a:endParaRPr lang="en-IN"/>
          </a:p>
        </p:txBody>
      </p:sp>
      <p:sp>
        <p:nvSpPr>
          <p:cNvPr id="11" name="Text 8"/>
          <p:cNvSpPr/>
          <p:nvPr/>
        </p:nvSpPr>
        <p:spPr>
          <a:xfrm>
            <a:off x="7754112" y="3988529"/>
            <a:ext cx="3931920" cy="868680"/>
          </a:xfrm>
          <a:prstGeom prst="rect">
            <a:avLst/>
          </a:prstGeom>
          <a:noFill/>
          <a:ln/>
        </p:spPr>
        <p:txBody>
          <a:bodyPr wrap="square" rtlCol="0" anchor="ctr"/>
          <a:lstStyle/>
          <a:p>
            <a:pPr>
              <a:lnSpc>
                <a:spcPct val="110000"/>
              </a:lnSpc>
            </a:pPr>
            <a:r>
              <a:rPr lang="en-US" sz="1200" b="1" dirty="0">
                <a:solidFill>
                  <a:srgbClr val="E5326E"/>
                </a:solidFill>
                <a:latin typeface="Calibri" pitchFamily="34" charset="0"/>
                <a:ea typeface="Calibri" pitchFamily="34" charset="-122"/>
                <a:cs typeface="Calibri" pitchFamily="34" charset="-120"/>
              </a:rPr>
              <a:t>Timing is tiny. </a:t>
            </a:r>
            <a:r>
              <a:rPr lang="en-IN" sz="1200" dirty="0">
                <a:solidFill>
                  <a:srgbClr val="1C2233"/>
                </a:solidFill>
                <a:latin typeface="Calibri" pitchFamily="34" charset="0"/>
                <a:ea typeface="Calibri" pitchFamily="34" charset="-122"/>
                <a:cs typeface="Calibri" pitchFamily="34" charset="-120"/>
              </a:rPr>
              <a:t>The "closer to check-in" bar is barely visible next to quality : when you book matters far less than what the hotel is.</a:t>
            </a:r>
            <a:endParaRPr lang="en-US" sz="1200" dirty="0">
              <a:solidFill>
                <a:srgbClr val="1C2233"/>
              </a:solidFill>
              <a:latin typeface="Calibri" pitchFamily="34" charset="0"/>
              <a:ea typeface="Calibri" pitchFamily="34" charset="-122"/>
              <a:cs typeface="Calibri" pitchFamily="34" charset="-120"/>
            </a:endParaRPr>
          </a:p>
        </p:txBody>
      </p:sp>
      <p:sp>
        <p:nvSpPr>
          <p:cNvPr id="12" name="Shape 9"/>
          <p:cNvSpPr/>
          <p:nvPr/>
        </p:nvSpPr>
        <p:spPr>
          <a:xfrm>
            <a:off x="7498080" y="5212080"/>
            <a:ext cx="146304" cy="146304"/>
          </a:xfrm>
          <a:prstGeom prst="ellipse">
            <a:avLst/>
          </a:prstGeom>
          <a:solidFill>
            <a:srgbClr val="1FA8C9"/>
          </a:solidFill>
          <a:ln/>
        </p:spPr>
        <p:txBody>
          <a:bodyPr/>
          <a:lstStyle/>
          <a:p>
            <a:endParaRPr lang="en-IN"/>
          </a:p>
        </p:txBody>
      </p:sp>
      <p:sp>
        <p:nvSpPr>
          <p:cNvPr id="13" name="Text 10"/>
          <p:cNvSpPr/>
          <p:nvPr/>
        </p:nvSpPr>
        <p:spPr>
          <a:xfrm>
            <a:off x="7754112" y="4948649"/>
            <a:ext cx="3931920" cy="868680"/>
          </a:xfrm>
          <a:prstGeom prst="rect">
            <a:avLst/>
          </a:prstGeom>
          <a:noFill/>
          <a:ln/>
        </p:spPr>
        <p:txBody>
          <a:bodyPr wrap="square" rtlCol="0" anchor="ctr"/>
          <a:lstStyle/>
          <a:p>
            <a:pPr marL="0" indent="0">
              <a:lnSpc>
                <a:spcPct val="110000"/>
              </a:lnSpc>
              <a:buNone/>
            </a:pPr>
            <a:r>
              <a:rPr lang="en-US" sz="1200" b="1" dirty="0">
                <a:solidFill>
                  <a:srgbClr val="1FA8C9"/>
                </a:solidFill>
                <a:latin typeface="Calibri" pitchFamily="34" charset="0"/>
                <a:ea typeface="Calibri" pitchFamily="34" charset="-122"/>
                <a:cs typeface="Calibri" pitchFamily="34" charset="-120"/>
              </a:rPr>
              <a:t>R² jumps to 0.41.  </a:t>
            </a:r>
            <a:r>
              <a:rPr lang="en-US" sz="1200" dirty="0">
                <a:solidFill>
                  <a:srgbClr val="1C2233"/>
                </a:solidFill>
                <a:latin typeface="Calibri" pitchFamily="34" charset="0"/>
                <a:ea typeface="Calibri" pitchFamily="34" charset="-122"/>
                <a:cs typeface="Calibri" pitchFamily="34" charset="-120"/>
              </a:rPr>
              <a:t>Quality, city and season explain 41% of price, versus 1% for timing alone.</a:t>
            </a:r>
            <a:endParaRPr lang="en-US" sz="1200" dirty="0"/>
          </a:p>
        </p:txBody>
      </p:sp>
      <p:sp>
        <p:nvSpPr>
          <p:cNvPr id="14" name="Text 11"/>
          <p:cNvSpPr/>
          <p:nvPr/>
        </p:nvSpPr>
        <p:spPr>
          <a:xfrm>
            <a:off x="7498080" y="5989320"/>
            <a:ext cx="411480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Still mixes different hotels together : M3 compares each hotel only to itself.</a:t>
            </a:r>
            <a:endParaRPr lang="en-US" sz="1150" dirty="0"/>
          </a:p>
        </p:txBody>
      </p:sp>
      <p:pic>
        <p:nvPicPr>
          <p:cNvPr id="16" name="Picture 15">
            <a:extLst>
              <a:ext uri="{FF2B5EF4-FFF2-40B4-BE49-F238E27FC236}">
                <a16:creationId xmlns:a16="http://schemas.microsoft.com/office/drawing/2014/main" id="{00BCC8F9-DA22-072A-2CC2-8768C22F4624}"/>
              </a:ext>
            </a:extLst>
          </p:cNvPr>
          <p:cNvPicPr>
            <a:picLocks noChangeAspect="1"/>
          </p:cNvPicPr>
          <p:nvPr/>
        </p:nvPicPr>
        <p:blipFill>
          <a:blip r:embed="rId3"/>
          <a:stretch>
            <a:fillRect/>
          </a:stretch>
        </p:blipFill>
        <p:spPr>
          <a:xfrm>
            <a:off x="89135" y="2049893"/>
            <a:ext cx="7201905" cy="43440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324573EB-0899-2630-798A-5C6EEC3D375E}"/>
              </a:ext>
            </a:extLst>
          </p:cNvPr>
          <p:cNvPicPr>
            <a:picLocks noChangeAspect="1"/>
          </p:cNvPicPr>
          <p:nvPr/>
        </p:nvPicPr>
        <p:blipFill>
          <a:blip r:embed="rId4"/>
          <a:stretch>
            <a:fillRect/>
          </a:stretch>
        </p:blipFill>
        <p:spPr>
          <a:xfrm>
            <a:off x="10813872" y="-44952"/>
            <a:ext cx="1376825" cy="9031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200" dirty="0">
                <a:solidFill>
                  <a:srgbClr val="10239E"/>
                </a:solidFill>
                <a:latin typeface="Calibri" pitchFamily="34" charset="0"/>
                <a:ea typeface="Calibri" pitchFamily="34" charset="-122"/>
                <a:cs typeface="Calibri" pitchFamily="34" charset="-120"/>
              </a:rPr>
              <a:t>04  ·  COMPARE LIKE WITH LIKE</a:t>
            </a:r>
            <a:endParaRPr lang="en-US" sz="120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2800" b="1" dirty="0">
                <a:solidFill>
                  <a:srgbClr val="1C2233"/>
                </a:solidFill>
                <a:latin typeface="Calibri" pitchFamily="34" charset="0"/>
                <a:ea typeface="Calibri" pitchFamily="34" charset="-122"/>
                <a:cs typeface="Calibri" pitchFamily="34" charset="-120"/>
              </a:rPr>
              <a:t>Model 3 : Compare each hotel to itself</a:t>
            </a:r>
            <a:endParaRPr lang="en-US" sz="2800" dirty="0"/>
          </a:p>
        </p:txBody>
      </p:sp>
      <p:sp>
        <p:nvSpPr>
          <p:cNvPr id="4" name="Text 2"/>
          <p:cNvSpPr/>
          <p:nvPr/>
        </p:nvSpPr>
        <p:spPr>
          <a:xfrm>
            <a:off x="548640" y="1417320"/>
            <a:ext cx="11064240" cy="411480"/>
          </a:xfrm>
          <a:prstGeom prst="rect">
            <a:avLst/>
          </a:prstGeom>
          <a:noFill/>
          <a:ln/>
        </p:spPr>
        <p:txBody>
          <a:bodyPr wrap="square" rtlCol="0" anchor="ctr"/>
          <a:lstStyle/>
          <a:p>
            <a:pPr marL="0" indent="0">
              <a:buNone/>
            </a:pPr>
            <a:r>
              <a:rPr lang="en-US" sz="1500" i="1" dirty="0">
                <a:solidFill>
                  <a:srgbClr val="64748B"/>
                </a:solidFill>
                <a:latin typeface="Calibri" pitchFamily="34" charset="0"/>
                <a:ea typeface="Calibri" pitchFamily="34" charset="-122"/>
                <a:cs typeface="Calibri" pitchFamily="34" charset="-120"/>
              </a:rPr>
              <a:t>Subtract each hotel's own averages : only within-hotel variation remains. The effect shrinks further (-10%).</a:t>
            </a:r>
            <a:endParaRPr lang="en-US" sz="1500" dirty="0"/>
          </a:p>
        </p:txBody>
      </p:sp>
      <p:sp>
        <p:nvSpPr>
          <p:cNvPr id="6" name="Text 3"/>
          <p:cNvSpPr/>
          <p:nvPr/>
        </p:nvSpPr>
        <p:spPr>
          <a:xfrm>
            <a:off x="7498080" y="2240280"/>
            <a:ext cx="4114800" cy="457200"/>
          </a:xfrm>
          <a:prstGeom prst="rect">
            <a:avLst/>
          </a:prstGeom>
          <a:noFill/>
          <a:ln/>
        </p:spPr>
        <p:txBody>
          <a:bodyPr wrap="square" rtlCol="0" anchor="ctr"/>
          <a:lstStyle/>
          <a:p>
            <a:pPr marL="0" indent="0">
              <a:buNone/>
            </a:pPr>
            <a:r>
              <a:rPr lang="en-US" sz="2200" b="1" dirty="0">
                <a:solidFill>
                  <a:srgbClr val="10239E"/>
                </a:solidFill>
                <a:latin typeface="Calibri" pitchFamily="34" charset="0"/>
                <a:ea typeface="Calibri" pitchFamily="34" charset="-122"/>
                <a:cs typeface="Calibri" pitchFamily="34" charset="-120"/>
              </a:rPr>
              <a:t>-$0.423 → -$0.254 / day</a:t>
            </a:r>
            <a:endParaRPr lang="en-US" sz="2200" dirty="0"/>
          </a:p>
        </p:txBody>
      </p:sp>
      <p:sp>
        <p:nvSpPr>
          <p:cNvPr id="7" name="Text 4"/>
          <p:cNvSpPr/>
          <p:nvPr/>
        </p:nvSpPr>
        <p:spPr>
          <a:xfrm>
            <a:off x="7498080" y="2697480"/>
            <a:ext cx="4023360" cy="32004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within-hotel effect, clustered by hotel</a:t>
            </a:r>
            <a:endParaRPr lang="en-US" sz="1200" dirty="0"/>
          </a:p>
        </p:txBody>
      </p:sp>
      <p:sp>
        <p:nvSpPr>
          <p:cNvPr id="8" name="Shape 5"/>
          <p:cNvSpPr/>
          <p:nvPr/>
        </p:nvSpPr>
        <p:spPr>
          <a:xfrm>
            <a:off x="7498080" y="3291840"/>
            <a:ext cx="146304" cy="146304"/>
          </a:xfrm>
          <a:prstGeom prst="ellipse">
            <a:avLst/>
          </a:prstGeom>
          <a:solidFill>
            <a:srgbClr val="2B5CE6"/>
          </a:solidFill>
          <a:ln/>
        </p:spPr>
        <p:txBody>
          <a:bodyPr/>
          <a:lstStyle/>
          <a:p>
            <a:endParaRPr lang="en-IN"/>
          </a:p>
        </p:txBody>
      </p:sp>
      <p:sp>
        <p:nvSpPr>
          <p:cNvPr id="9" name="Text 6"/>
          <p:cNvSpPr/>
          <p:nvPr/>
        </p:nvSpPr>
        <p:spPr>
          <a:xfrm>
            <a:off x="7754112" y="3039295"/>
            <a:ext cx="3931920" cy="868680"/>
          </a:xfrm>
          <a:prstGeom prst="rect">
            <a:avLst/>
          </a:prstGeom>
          <a:noFill/>
          <a:ln/>
        </p:spPr>
        <p:txBody>
          <a:bodyPr wrap="square" rtlCol="0" anchor="ctr"/>
          <a:lstStyle/>
          <a:p>
            <a:pPr marL="0" indent="0">
              <a:lnSpc>
                <a:spcPct val="110000"/>
              </a:lnSpc>
              <a:buNone/>
            </a:pPr>
            <a:r>
              <a:rPr lang="en-US" sz="1200" b="1" dirty="0">
                <a:solidFill>
                  <a:srgbClr val="2B5CE6"/>
                </a:solidFill>
                <a:latin typeface="Calibri" pitchFamily="34" charset="0"/>
                <a:ea typeface="Calibri" pitchFamily="34" charset="-122"/>
                <a:cs typeface="Calibri" pitchFamily="34" charset="-120"/>
              </a:rPr>
              <a:t>The mix is gone.  </a:t>
            </a:r>
            <a:r>
              <a:rPr lang="en-US" sz="1200" dirty="0">
                <a:solidFill>
                  <a:srgbClr val="1C2233"/>
                </a:solidFill>
                <a:latin typeface="Calibri" pitchFamily="34" charset="0"/>
                <a:ea typeface="Calibri" pitchFamily="34" charset="-122"/>
                <a:cs typeface="Calibri" pitchFamily="34" charset="-120"/>
              </a:rPr>
              <a:t>Each hotel is compared only to itself, so hotel-quality bias is removed by construction.</a:t>
            </a:r>
            <a:endParaRPr lang="en-US" sz="1200" dirty="0"/>
          </a:p>
        </p:txBody>
      </p:sp>
      <p:sp>
        <p:nvSpPr>
          <p:cNvPr id="10" name="Shape 7"/>
          <p:cNvSpPr/>
          <p:nvPr/>
        </p:nvSpPr>
        <p:spPr>
          <a:xfrm>
            <a:off x="7498080" y="4251960"/>
            <a:ext cx="146304" cy="146304"/>
          </a:xfrm>
          <a:prstGeom prst="ellipse">
            <a:avLst/>
          </a:prstGeom>
          <a:solidFill>
            <a:srgbClr val="E5326E"/>
          </a:solidFill>
          <a:ln/>
        </p:spPr>
        <p:txBody>
          <a:bodyPr/>
          <a:lstStyle/>
          <a:p>
            <a:endParaRPr lang="en-IN"/>
          </a:p>
        </p:txBody>
      </p:sp>
      <p:sp>
        <p:nvSpPr>
          <p:cNvPr id="11" name="Text 8"/>
          <p:cNvSpPr/>
          <p:nvPr/>
        </p:nvSpPr>
        <p:spPr>
          <a:xfrm>
            <a:off x="7754112" y="3999409"/>
            <a:ext cx="3931920" cy="868680"/>
          </a:xfrm>
          <a:prstGeom prst="rect">
            <a:avLst/>
          </a:prstGeom>
          <a:noFill/>
          <a:ln/>
        </p:spPr>
        <p:txBody>
          <a:bodyPr wrap="square" rtlCol="0" anchor="ctr"/>
          <a:lstStyle/>
          <a:p>
            <a:pPr marL="0" indent="0">
              <a:lnSpc>
                <a:spcPct val="110000"/>
              </a:lnSpc>
              <a:buNone/>
            </a:pPr>
            <a:r>
              <a:rPr lang="en-US" sz="1200" b="1" dirty="0">
                <a:solidFill>
                  <a:srgbClr val="E5326E"/>
                </a:solidFill>
                <a:latin typeface="Calibri" pitchFamily="34" charset="0"/>
                <a:ea typeface="Calibri" pitchFamily="34" charset="-122"/>
                <a:cs typeface="Calibri" pitchFamily="34" charset="-120"/>
              </a:rPr>
              <a:t>The line goes flat.  </a:t>
            </a:r>
            <a:r>
              <a:rPr lang="en-US" sz="1200" dirty="0">
                <a:solidFill>
                  <a:srgbClr val="1C2233"/>
                </a:solidFill>
                <a:latin typeface="Calibri" pitchFamily="34" charset="0"/>
                <a:ea typeface="Calibri" pitchFamily="34" charset="-122"/>
                <a:cs typeface="Calibri" pitchFamily="34" charset="-120"/>
              </a:rPr>
              <a:t>Across a -$400 to +$500 spread the slope barely tilts - timing is nearly irrelevant within a hotel.</a:t>
            </a:r>
            <a:endParaRPr lang="en-US" sz="1200" dirty="0"/>
          </a:p>
        </p:txBody>
      </p:sp>
      <p:sp>
        <p:nvSpPr>
          <p:cNvPr id="12" name="Shape 9"/>
          <p:cNvSpPr/>
          <p:nvPr/>
        </p:nvSpPr>
        <p:spPr>
          <a:xfrm>
            <a:off x="7498080" y="5212080"/>
            <a:ext cx="146304" cy="146304"/>
          </a:xfrm>
          <a:prstGeom prst="ellipse">
            <a:avLst/>
          </a:prstGeom>
          <a:solidFill>
            <a:srgbClr val="1FA8C9"/>
          </a:solidFill>
          <a:ln/>
        </p:spPr>
        <p:txBody>
          <a:bodyPr/>
          <a:lstStyle/>
          <a:p>
            <a:endParaRPr lang="en-IN"/>
          </a:p>
        </p:txBody>
      </p:sp>
      <p:sp>
        <p:nvSpPr>
          <p:cNvPr id="13" name="Text 10"/>
          <p:cNvSpPr/>
          <p:nvPr/>
        </p:nvSpPr>
        <p:spPr>
          <a:xfrm>
            <a:off x="7754112" y="4970412"/>
            <a:ext cx="3931920" cy="868680"/>
          </a:xfrm>
          <a:prstGeom prst="rect">
            <a:avLst/>
          </a:prstGeom>
          <a:noFill/>
          <a:ln/>
        </p:spPr>
        <p:txBody>
          <a:bodyPr wrap="square" rtlCol="0" anchor="ctr"/>
          <a:lstStyle/>
          <a:p>
            <a:pPr marL="0" indent="0">
              <a:lnSpc>
                <a:spcPct val="110000"/>
              </a:lnSpc>
              <a:buNone/>
            </a:pPr>
            <a:r>
              <a:rPr lang="en-US" sz="1200" b="1" dirty="0">
                <a:solidFill>
                  <a:srgbClr val="1FA8C9"/>
                </a:solidFill>
                <a:latin typeface="Calibri" pitchFamily="34" charset="0"/>
                <a:ea typeface="Calibri" pitchFamily="34" charset="-122"/>
                <a:cs typeface="Calibri" pitchFamily="34" charset="-120"/>
              </a:rPr>
              <a:t>A third still vanished.  </a:t>
            </a:r>
            <a:r>
              <a:rPr lang="en-US" sz="1200" dirty="0">
                <a:solidFill>
                  <a:srgbClr val="1C2233"/>
                </a:solidFill>
                <a:latin typeface="Calibri" pitchFamily="34" charset="0"/>
                <a:ea typeface="Calibri" pitchFamily="34" charset="-122"/>
                <a:cs typeface="Calibri" pitchFamily="34" charset="-120"/>
              </a:rPr>
              <a:t>The shrink from -$0.42 to -$0.25 was unobserved quality that star rating alone could not capture.</a:t>
            </a:r>
            <a:endParaRPr lang="en-US" sz="1200" dirty="0"/>
          </a:p>
        </p:txBody>
      </p:sp>
      <p:sp>
        <p:nvSpPr>
          <p:cNvPr id="14" name="Text 11"/>
          <p:cNvSpPr/>
          <p:nvPr/>
        </p:nvSpPr>
        <p:spPr>
          <a:xfrm>
            <a:off x="7498080" y="5989320"/>
            <a:ext cx="4114800" cy="365760"/>
          </a:xfrm>
          <a:prstGeom prst="rect">
            <a:avLst/>
          </a:prstGeom>
          <a:noFill/>
          <a:ln/>
        </p:spPr>
        <p:txBody>
          <a:bodyPr wrap="square"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Within a hotel, room types still differ : M4 compares the same room-night to itself.</a:t>
            </a:r>
            <a:endParaRPr lang="en-US" sz="1150" dirty="0"/>
          </a:p>
        </p:txBody>
      </p:sp>
      <p:pic>
        <p:nvPicPr>
          <p:cNvPr id="15" name="Picture 14">
            <a:extLst>
              <a:ext uri="{FF2B5EF4-FFF2-40B4-BE49-F238E27FC236}">
                <a16:creationId xmlns:a16="http://schemas.microsoft.com/office/drawing/2014/main" id="{86108EEA-391A-2EA4-1F0F-6C55D0C2CB0C}"/>
              </a:ext>
            </a:extLst>
          </p:cNvPr>
          <p:cNvPicPr>
            <a:picLocks noChangeAspect="1"/>
          </p:cNvPicPr>
          <p:nvPr/>
        </p:nvPicPr>
        <p:blipFill>
          <a:blip r:embed="rId3"/>
          <a:stretch>
            <a:fillRect/>
          </a:stretch>
        </p:blipFill>
        <p:spPr>
          <a:xfrm>
            <a:off x="207093" y="2192074"/>
            <a:ext cx="6878010" cy="41630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Box 17">
            <a:extLst>
              <a:ext uri="{FF2B5EF4-FFF2-40B4-BE49-F238E27FC236}">
                <a16:creationId xmlns:a16="http://schemas.microsoft.com/office/drawing/2014/main" id="{0986DB2A-3B61-AD8A-A432-C9B11CD39FEC}"/>
              </a:ext>
            </a:extLst>
          </p:cNvPr>
          <p:cNvSpPr txBox="1"/>
          <p:nvPr/>
        </p:nvSpPr>
        <p:spPr>
          <a:xfrm>
            <a:off x="1301931" y="3100896"/>
            <a:ext cx="2137955" cy="523220"/>
          </a:xfrm>
          <a:prstGeom prst="rect">
            <a:avLst/>
          </a:prstGeom>
          <a:effectLst>
            <a:outerShdw blurRad="50800" dist="38100" dir="13500000" algn="b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400" dirty="0"/>
              <a:t>Booked </a:t>
            </a:r>
            <a:r>
              <a:rPr lang="en-IN" sz="1400" b="1" dirty="0"/>
              <a:t>earlier</a:t>
            </a:r>
            <a:r>
              <a:rPr lang="en-IN" sz="1400" dirty="0"/>
              <a:t> than usual </a:t>
            </a:r>
            <a:br>
              <a:rPr lang="en-IN" sz="1400" dirty="0"/>
            </a:br>
            <a:r>
              <a:rPr lang="en-IN" sz="1400" dirty="0"/>
              <a:t>ADR </a:t>
            </a:r>
            <a:r>
              <a:rPr lang="en-IN" sz="1400" b="1" dirty="0"/>
              <a:t>higher</a:t>
            </a:r>
            <a:r>
              <a:rPr lang="en-IN" sz="1400" dirty="0"/>
              <a:t> than usual</a:t>
            </a:r>
          </a:p>
        </p:txBody>
      </p:sp>
      <p:sp>
        <p:nvSpPr>
          <p:cNvPr id="19" name="TextBox 18">
            <a:extLst>
              <a:ext uri="{FF2B5EF4-FFF2-40B4-BE49-F238E27FC236}">
                <a16:creationId xmlns:a16="http://schemas.microsoft.com/office/drawing/2014/main" id="{2099EC73-03BA-5C31-74B9-EBADBD49EC98}"/>
              </a:ext>
            </a:extLst>
          </p:cNvPr>
          <p:cNvSpPr txBox="1"/>
          <p:nvPr/>
        </p:nvSpPr>
        <p:spPr>
          <a:xfrm>
            <a:off x="4954960" y="2536314"/>
            <a:ext cx="1974669" cy="523220"/>
          </a:xfrm>
          <a:prstGeom prst="rect">
            <a:avLst/>
          </a:prstGeom>
          <a:effectLst>
            <a:outerShdw blurRad="50800" dist="38100" dir="13500000" algn="b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400" dirty="0"/>
              <a:t>Booked </a:t>
            </a:r>
            <a:r>
              <a:rPr lang="en-IN" sz="1400" b="1" dirty="0"/>
              <a:t>later</a:t>
            </a:r>
            <a:r>
              <a:rPr lang="en-IN" sz="1400" dirty="0"/>
              <a:t> than usual </a:t>
            </a:r>
            <a:br>
              <a:rPr lang="en-IN" sz="1400" dirty="0"/>
            </a:br>
            <a:r>
              <a:rPr lang="en-IN" sz="1400" dirty="0"/>
              <a:t>ADR </a:t>
            </a:r>
            <a:r>
              <a:rPr lang="en-IN" sz="1400" b="1" dirty="0"/>
              <a:t>higher</a:t>
            </a:r>
            <a:r>
              <a:rPr lang="en-IN" sz="1400" dirty="0"/>
              <a:t> than usual</a:t>
            </a:r>
          </a:p>
        </p:txBody>
      </p:sp>
      <p:sp>
        <p:nvSpPr>
          <p:cNvPr id="20" name="TextBox 19">
            <a:extLst>
              <a:ext uri="{FF2B5EF4-FFF2-40B4-BE49-F238E27FC236}">
                <a16:creationId xmlns:a16="http://schemas.microsoft.com/office/drawing/2014/main" id="{24C4036F-FDB2-31E7-8DF1-849B04CA7C91}"/>
              </a:ext>
            </a:extLst>
          </p:cNvPr>
          <p:cNvSpPr txBox="1"/>
          <p:nvPr/>
        </p:nvSpPr>
        <p:spPr>
          <a:xfrm>
            <a:off x="1301931" y="5244386"/>
            <a:ext cx="2137955" cy="523220"/>
          </a:xfrm>
          <a:prstGeom prst="rect">
            <a:avLst/>
          </a:prstGeom>
          <a:effectLst>
            <a:outerShdw blurRad="50800" dist="38100" dir="13500000" algn="b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400" dirty="0"/>
              <a:t>Booked </a:t>
            </a:r>
            <a:r>
              <a:rPr lang="en-IN" sz="1400" b="1" dirty="0"/>
              <a:t>earlier</a:t>
            </a:r>
            <a:r>
              <a:rPr lang="en-IN" sz="1400" dirty="0"/>
              <a:t> than usual </a:t>
            </a:r>
            <a:br>
              <a:rPr lang="en-IN" sz="1400" dirty="0"/>
            </a:br>
            <a:r>
              <a:rPr lang="en-IN" sz="1400" dirty="0"/>
              <a:t>ADR </a:t>
            </a:r>
            <a:r>
              <a:rPr lang="en-IN" sz="1400" b="1" dirty="0"/>
              <a:t>lower</a:t>
            </a:r>
            <a:r>
              <a:rPr lang="en-IN" sz="1400" dirty="0"/>
              <a:t> than usual</a:t>
            </a:r>
          </a:p>
        </p:txBody>
      </p:sp>
      <p:sp>
        <p:nvSpPr>
          <p:cNvPr id="21" name="TextBox 20">
            <a:extLst>
              <a:ext uri="{FF2B5EF4-FFF2-40B4-BE49-F238E27FC236}">
                <a16:creationId xmlns:a16="http://schemas.microsoft.com/office/drawing/2014/main" id="{93CFC2A9-C5CC-7ECF-1C9A-B3D3F48E2E43}"/>
              </a:ext>
            </a:extLst>
          </p:cNvPr>
          <p:cNvSpPr txBox="1"/>
          <p:nvPr/>
        </p:nvSpPr>
        <p:spPr>
          <a:xfrm>
            <a:off x="4954959" y="5250047"/>
            <a:ext cx="1974669" cy="523220"/>
          </a:xfrm>
          <a:prstGeom prst="rect">
            <a:avLst/>
          </a:prstGeom>
          <a:effectLst>
            <a:outerShdw blurRad="50800" dist="38100" dir="13500000" algn="br"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400" dirty="0"/>
              <a:t>Booked </a:t>
            </a:r>
            <a:r>
              <a:rPr lang="en-IN" sz="1400" b="1" dirty="0"/>
              <a:t>later</a:t>
            </a:r>
            <a:r>
              <a:rPr lang="en-IN" sz="1400" dirty="0"/>
              <a:t> than usual </a:t>
            </a:r>
            <a:br>
              <a:rPr lang="en-IN" sz="1400" dirty="0"/>
            </a:br>
            <a:r>
              <a:rPr lang="en-IN" sz="1400" dirty="0"/>
              <a:t>ADR </a:t>
            </a:r>
            <a:r>
              <a:rPr lang="en-IN" sz="1400" b="1" dirty="0"/>
              <a:t>lower</a:t>
            </a:r>
            <a:r>
              <a:rPr lang="en-IN" sz="1400" dirty="0"/>
              <a:t> than usual</a:t>
            </a:r>
          </a:p>
        </p:txBody>
      </p:sp>
      <p:pic>
        <p:nvPicPr>
          <p:cNvPr id="22" name="Picture 21">
            <a:extLst>
              <a:ext uri="{FF2B5EF4-FFF2-40B4-BE49-F238E27FC236}">
                <a16:creationId xmlns:a16="http://schemas.microsoft.com/office/drawing/2014/main" id="{871F2C25-0890-1C73-714C-F030C1387547}"/>
              </a:ext>
            </a:extLst>
          </p:cNvPr>
          <p:cNvPicPr>
            <a:picLocks noChangeAspect="1"/>
          </p:cNvPicPr>
          <p:nvPr/>
        </p:nvPicPr>
        <p:blipFill>
          <a:blip r:embed="rId4"/>
          <a:stretch>
            <a:fillRect/>
          </a:stretch>
        </p:blipFill>
        <p:spPr>
          <a:xfrm>
            <a:off x="10813872" y="-44952"/>
            <a:ext cx="1376825" cy="9031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200" dirty="0">
                <a:solidFill>
                  <a:srgbClr val="10239E"/>
                </a:solidFill>
                <a:latin typeface="Calibri" pitchFamily="34" charset="0"/>
                <a:ea typeface="Calibri" pitchFamily="34" charset="-122"/>
                <a:cs typeface="Calibri" pitchFamily="34" charset="-120"/>
              </a:rPr>
              <a:t>05  ·  THE CLEAN TEST</a:t>
            </a:r>
            <a:endParaRPr lang="en-US" sz="120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2800" b="1" dirty="0">
                <a:solidFill>
                  <a:srgbClr val="1C2233"/>
                </a:solidFill>
                <a:latin typeface="Calibri" pitchFamily="34" charset="0"/>
                <a:ea typeface="Calibri" pitchFamily="34" charset="-122"/>
                <a:cs typeface="Calibri" pitchFamily="34" charset="-120"/>
              </a:rPr>
              <a:t>Model 4 : Same room-night, and the coin-flip</a:t>
            </a:r>
            <a:endParaRPr lang="en-US" sz="2800" dirty="0"/>
          </a:p>
        </p:txBody>
      </p:sp>
      <p:sp>
        <p:nvSpPr>
          <p:cNvPr id="4" name="Text 2"/>
          <p:cNvSpPr/>
          <p:nvPr/>
        </p:nvSpPr>
        <p:spPr>
          <a:xfrm>
            <a:off x="548640" y="1417320"/>
            <a:ext cx="11064240" cy="411480"/>
          </a:xfrm>
          <a:prstGeom prst="rect">
            <a:avLst/>
          </a:prstGeom>
          <a:noFill/>
          <a:ln/>
        </p:spPr>
        <p:txBody>
          <a:bodyPr wrap="square" rtlCol="0" anchor="ctr"/>
          <a:lstStyle/>
          <a:p>
            <a:pPr marL="0" indent="0">
              <a:buNone/>
            </a:pPr>
            <a:r>
              <a:rPr lang="en-US" sz="1500" i="1" dirty="0">
                <a:solidFill>
                  <a:srgbClr val="64748B"/>
                </a:solidFill>
                <a:latin typeface="Calibri" pitchFamily="34" charset="0"/>
                <a:ea typeface="Calibri" pitchFamily="34" charset="-122"/>
                <a:cs typeface="Calibri" pitchFamily="34" charset="-120"/>
              </a:rPr>
              <a:t>Compare the same hotel on the same night at different booking windows. The effect is statistically zero.</a:t>
            </a:r>
            <a:endParaRPr lang="en-US" sz="1500" dirty="0"/>
          </a:p>
        </p:txBody>
      </p:sp>
      <p:sp>
        <p:nvSpPr>
          <p:cNvPr id="6" name="Text 3"/>
          <p:cNvSpPr/>
          <p:nvPr/>
        </p:nvSpPr>
        <p:spPr>
          <a:xfrm>
            <a:off x="548640" y="5074920"/>
            <a:ext cx="3931920" cy="365760"/>
          </a:xfrm>
          <a:prstGeom prst="rect">
            <a:avLst/>
          </a:prstGeom>
          <a:noFill/>
          <a:ln/>
        </p:spPr>
        <p:txBody>
          <a:bodyPr wrap="square" rtlCol="0" anchor="ctr"/>
          <a:lstStyle/>
          <a:p>
            <a:pPr marL="0" indent="0" algn="ctr">
              <a:buNone/>
            </a:pPr>
            <a:r>
              <a:rPr lang="en-US" sz="1600" b="1" dirty="0">
                <a:solidFill>
                  <a:srgbClr val="E5326E"/>
                </a:solidFill>
                <a:latin typeface="Calibri" pitchFamily="34" charset="0"/>
                <a:ea typeface="Calibri" pitchFamily="34" charset="-122"/>
                <a:cs typeface="Calibri" pitchFamily="34" charset="-120"/>
              </a:rPr>
              <a:t>-$0.005 / day   (p = 0.88)</a:t>
            </a:r>
            <a:endParaRPr lang="en-US" sz="1600" dirty="0"/>
          </a:p>
        </p:txBody>
      </p:sp>
      <p:sp>
        <p:nvSpPr>
          <p:cNvPr id="7" name="Text 4"/>
          <p:cNvSpPr/>
          <p:nvPr/>
        </p:nvSpPr>
        <p:spPr>
          <a:xfrm>
            <a:off x="548640" y="5440680"/>
            <a:ext cx="3931920" cy="640080"/>
          </a:xfrm>
          <a:prstGeom prst="rect">
            <a:avLst/>
          </a:prstGeom>
          <a:noFill/>
          <a:ln/>
        </p:spPr>
        <p:txBody>
          <a:bodyPr wrap="square" rtlCol="0" anchor="ctr"/>
          <a:lstStyle/>
          <a:p>
            <a:pPr marL="0" indent="0" algn="ctr">
              <a:buNone/>
            </a:pPr>
            <a:r>
              <a:rPr lang="en-US" sz="1150" i="1" dirty="0">
                <a:solidFill>
                  <a:srgbClr val="64748B"/>
                </a:solidFill>
                <a:latin typeface="Calibri" pitchFamily="34" charset="0"/>
                <a:ea typeface="Calibri" pitchFamily="34" charset="-122"/>
                <a:cs typeface="Calibri" pitchFamily="34" charset="-120"/>
              </a:rPr>
              <a:t>95% CI [-0.06, +0.07] crosses zero : indistinguishable from no effect.</a:t>
            </a:r>
            <a:endParaRPr lang="en-US" sz="1150" dirty="0"/>
          </a:p>
        </p:txBody>
      </p:sp>
      <p:sp>
        <p:nvSpPr>
          <p:cNvPr id="9" name="Shape 5"/>
          <p:cNvSpPr/>
          <p:nvPr/>
        </p:nvSpPr>
        <p:spPr>
          <a:xfrm>
            <a:off x="8641080" y="2286000"/>
            <a:ext cx="3017520" cy="3657600"/>
          </a:xfrm>
          <a:prstGeom prst="rect">
            <a:avLst/>
          </a:prstGeom>
          <a:solidFill>
            <a:srgbClr val="F4F7FE"/>
          </a:solidFill>
          <a:ln/>
        </p:spPr>
        <p:txBody>
          <a:bodyPr/>
          <a:lstStyle/>
          <a:p>
            <a:endParaRPr lang="en-IN"/>
          </a:p>
        </p:txBody>
      </p:sp>
      <p:sp>
        <p:nvSpPr>
          <p:cNvPr id="10" name="Shape 6"/>
          <p:cNvSpPr/>
          <p:nvPr/>
        </p:nvSpPr>
        <p:spPr>
          <a:xfrm>
            <a:off x="8641080" y="2286000"/>
            <a:ext cx="64008" cy="3657600"/>
          </a:xfrm>
          <a:prstGeom prst="rect">
            <a:avLst/>
          </a:prstGeom>
          <a:solidFill>
            <a:srgbClr val="10239E"/>
          </a:solidFill>
          <a:ln/>
        </p:spPr>
        <p:txBody>
          <a:bodyPr/>
          <a:lstStyle/>
          <a:p>
            <a:endParaRPr lang="en-IN"/>
          </a:p>
        </p:txBody>
      </p:sp>
      <p:sp>
        <p:nvSpPr>
          <p:cNvPr id="11" name="Text 7"/>
          <p:cNvSpPr/>
          <p:nvPr/>
        </p:nvSpPr>
        <p:spPr>
          <a:xfrm>
            <a:off x="8823960" y="2423160"/>
            <a:ext cx="2743200" cy="365760"/>
          </a:xfrm>
          <a:prstGeom prst="rect">
            <a:avLst/>
          </a:prstGeom>
          <a:noFill/>
          <a:ln/>
        </p:spPr>
        <p:txBody>
          <a:bodyPr wrap="square" rtlCol="0" anchor="ctr"/>
          <a:lstStyle/>
          <a:p>
            <a:pPr marL="0" indent="0">
              <a:buNone/>
            </a:pPr>
            <a:r>
              <a:rPr lang="en-US" sz="1500" b="1" dirty="0">
                <a:solidFill>
                  <a:srgbClr val="10239E"/>
                </a:solidFill>
                <a:latin typeface="Calibri" pitchFamily="34" charset="0"/>
                <a:ea typeface="Calibri" pitchFamily="34" charset="-122"/>
                <a:cs typeface="Calibri" pitchFamily="34" charset="-120"/>
              </a:rPr>
              <a:t>Why the average is zero</a:t>
            </a:r>
            <a:endParaRPr lang="en-US" sz="1500" dirty="0"/>
          </a:p>
        </p:txBody>
      </p:sp>
      <p:sp>
        <p:nvSpPr>
          <p:cNvPr id="12" name="Text 8"/>
          <p:cNvSpPr/>
          <p:nvPr/>
        </p:nvSpPr>
        <p:spPr>
          <a:xfrm>
            <a:off x="8823960" y="2880360"/>
            <a:ext cx="2743200" cy="365760"/>
          </a:xfrm>
          <a:prstGeom prst="rect">
            <a:avLst/>
          </a:prstGeom>
          <a:noFill/>
          <a:ln/>
        </p:spPr>
        <p:txBody>
          <a:bodyPr wrap="square" rtlCol="0" anchor="ctr"/>
          <a:lstStyle/>
          <a:p>
            <a:pPr marL="0" indent="0">
              <a:buNone/>
            </a:pPr>
            <a:r>
              <a:rPr lang="en-US" sz="1700" b="1" dirty="0">
                <a:solidFill>
                  <a:srgbClr val="E5326E"/>
                </a:solidFill>
                <a:latin typeface="Calibri" pitchFamily="34" charset="0"/>
                <a:ea typeface="Calibri" pitchFamily="34" charset="-122"/>
                <a:cs typeface="Calibri" pitchFamily="34" charset="-120"/>
              </a:rPr>
              <a:t>47.5% rise / 52.5% fall</a:t>
            </a:r>
            <a:endParaRPr lang="en-US" sz="1700" dirty="0"/>
          </a:p>
        </p:txBody>
      </p:sp>
      <p:sp>
        <p:nvSpPr>
          <p:cNvPr id="13" name="Text 9"/>
          <p:cNvSpPr/>
          <p:nvPr/>
        </p:nvSpPr>
        <p:spPr>
          <a:xfrm>
            <a:off x="8823960" y="3337560"/>
            <a:ext cx="2743200" cy="2468880"/>
          </a:xfrm>
          <a:prstGeom prst="rect">
            <a:avLst/>
          </a:prstGeom>
          <a:noFill/>
          <a:ln/>
        </p:spPr>
        <p:txBody>
          <a:bodyPr wrap="square" rtlCol="0" anchor="ctr"/>
          <a:lstStyle/>
          <a:p>
            <a:pPr marL="0" indent="0">
              <a:lnSpc>
                <a:spcPct val="120000"/>
              </a:lnSpc>
              <a:buNone/>
            </a:pPr>
            <a:r>
              <a:rPr lang="en-US" sz="1250" dirty="0">
                <a:solidFill>
                  <a:srgbClr val="1C2233"/>
                </a:solidFill>
                <a:latin typeface="Calibri" pitchFamily="34" charset="0"/>
                <a:ea typeface="Calibri" pitchFamily="34" charset="-122"/>
                <a:cs typeface="Calibri" pitchFamily="34" charset="-120"/>
              </a:rPr>
              <a:t>For any given room-night the price is as likely to fall as to rise : a coin-flip. The rises and falls cancel out, which is why the model average lands at zero. Most slopes sit very close to zero, with only thin tails of dramatic movement.</a:t>
            </a:r>
            <a:endParaRPr lang="en-US" sz="1250" dirty="0"/>
          </a:p>
        </p:txBody>
      </p:sp>
      <p:pic>
        <p:nvPicPr>
          <p:cNvPr id="15" name="Picture 14">
            <a:extLst>
              <a:ext uri="{FF2B5EF4-FFF2-40B4-BE49-F238E27FC236}">
                <a16:creationId xmlns:a16="http://schemas.microsoft.com/office/drawing/2014/main" id="{5F308331-8B36-3022-33FD-38346A9F5A09}"/>
              </a:ext>
            </a:extLst>
          </p:cNvPr>
          <p:cNvPicPr>
            <a:picLocks noChangeAspect="1"/>
          </p:cNvPicPr>
          <p:nvPr/>
        </p:nvPicPr>
        <p:blipFill>
          <a:blip r:embed="rId3"/>
          <a:stretch>
            <a:fillRect/>
          </a:stretch>
        </p:blipFill>
        <p:spPr>
          <a:xfrm>
            <a:off x="5059626" y="2286000"/>
            <a:ext cx="3401393" cy="24593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7CE4D826-C3E5-8E87-0D5B-672E83E2EB24}"/>
              </a:ext>
            </a:extLst>
          </p:cNvPr>
          <p:cNvPicPr>
            <a:picLocks noChangeAspect="1"/>
          </p:cNvPicPr>
          <p:nvPr/>
        </p:nvPicPr>
        <p:blipFill>
          <a:blip r:embed="rId4"/>
          <a:stretch>
            <a:fillRect/>
          </a:stretch>
        </p:blipFill>
        <p:spPr>
          <a:xfrm>
            <a:off x="178191" y="2007230"/>
            <a:ext cx="4649618" cy="30219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E9CDBCF2-AF20-3968-17F5-5590A3536062}"/>
              </a:ext>
            </a:extLst>
          </p:cNvPr>
          <p:cNvPicPr>
            <a:picLocks noChangeAspect="1"/>
          </p:cNvPicPr>
          <p:nvPr/>
        </p:nvPicPr>
        <p:blipFill>
          <a:blip r:embed="rId5"/>
          <a:stretch>
            <a:fillRect/>
          </a:stretch>
        </p:blipFill>
        <p:spPr>
          <a:xfrm>
            <a:off x="10813872" y="-44952"/>
            <a:ext cx="1376825" cy="9031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b">
    <p:bg>
      <p:bgPr>
        <a:solidFill>
          <a:srgbClr val="10239E"/>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r>
              <a:rPr lang="en-US" sz="1200" b="1" kern="0" spc="200" dirty="0">
                <a:solidFill>
                  <a:srgbClr val="1FA8C9"/>
                </a:solidFill>
                <a:latin typeface="Calibri" pitchFamily="34" charset="0"/>
                <a:ea typeface="Calibri" pitchFamily="34" charset="-122"/>
                <a:cs typeface="Calibri" pitchFamily="34" charset="-120"/>
              </a:rPr>
              <a:t>06  ·  THE VERDICT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r>
              <a:rPr lang="en-US" sz="3200" b="1" dirty="0">
                <a:solidFill>
                  <a:srgbClr val="FFFFFF"/>
                </a:solidFill>
                <a:latin typeface="Calibri" pitchFamily="34" charset="0"/>
                <a:ea typeface="Calibri" pitchFamily="34" charset="-122"/>
                <a:cs typeface="Calibri" pitchFamily="34" charset="-120"/>
              </a:rPr>
              <a:t>It's selection bias : not a price trend</a:t>
            </a:r>
            <a:endParaRPr lang="en-US" sz="3200" dirty="0"/>
          </a:p>
        </p:txBody>
      </p:sp>
      <p:sp>
        <p:nvSpPr>
          <p:cNvPr id="5" name="Shape 3"/>
          <p:cNvSpPr/>
          <p:nvPr/>
        </p:nvSpPr>
        <p:spPr>
          <a:xfrm>
            <a:off x="548640" y="2377440"/>
            <a:ext cx="3611880" cy="3383280"/>
          </a:xfrm>
          <a:prstGeom prst="rect">
            <a:avLst/>
          </a:prstGeom>
          <a:solidFill>
            <a:srgbClr val="17249E"/>
          </a:solidFill>
          <a:ln/>
        </p:spPr>
        <p:txBody>
          <a:bodyPr/>
          <a:lstStyle/>
          <a:p>
            <a:endParaRPr lang="en-IN"/>
          </a:p>
        </p:txBody>
      </p:sp>
      <p:sp>
        <p:nvSpPr>
          <p:cNvPr id="6" name="Shape 4"/>
          <p:cNvSpPr/>
          <p:nvPr/>
        </p:nvSpPr>
        <p:spPr>
          <a:xfrm>
            <a:off x="822960" y="2697480"/>
            <a:ext cx="640080" cy="640080"/>
          </a:xfrm>
          <a:prstGeom prst="ellipse">
            <a:avLst/>
          </a:prstGeom>
          <a:solidFill>
            <a:srgbClr val="10239E"/>
          </a:solidFill>
          <a:ln w="12700">
            <a:solidFill>
              <a:srgbClr val="1FA8C9"/>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969264" y="2843784"/>
            <a:ext cx="347472" cy="347472"/>
          </a:xfrm>
          <a:prstGeom prst="rect">
            <a:avLst/>
          </a:prstGeom>
        </p:spPr>
      </p:pic>
      <p:sp>
        <p:nvSpPr>
          <p:cNvPr id="8" name="Text 5"/>
          <p:cNvSpPr/>
          <p:nvPr/>
        </p:nvSpPr>
        <p:spPr>
          <a:xfrm>
            <a:off x="822960" y="3474720"/>
            <a:ext cx="3108960" cy="640080"/>
          </a:xfrm>
          <a:prstGeom prst="rect">
            <a:avLst/>
          </a:prstGeom>
          <a:noFill/>
          <a:ln/>
        </p:spPr>
        <p:txBody>
          <a:bodyPr wrap="square" lIns="0" tIns="0" rIns="0" bIns="0" rtlCol="0" anchor="ctr"/>
          <a:lstStyle/>
          <a:p>
            <a:pPr marL="0" indent="0">
              <a:buNone/>
            </a:pPr>
            <a:r>
              <a:rPr lang="en-US" sz="2700" b="1" dirty="0">
                <a:solidFill>
                  <a:srgbClr val="FF9900"/>
                </a:solidFill>
                <a:latin typeface="Calibri" pitchFamily="34" charset="0"/>
                <a:ea typeface="Calibri" pitchFamily="34" charset="-122"/>
                <a:cs typeface="Calibri" pitchFamily="34" charset="-120"/>
              </a:rPr>
              <a:t>“Prices rising”</a:t>
            </a:r>
            <a:endParaRPr lang="en-US" sz="2700" dirty="0"/>
          </a:p>
        </p:txBody>
      </p:sp>
      <p:sp>
        <p:nvSpPr>
          <p:cNvPr id="9" name="Text 6"/>
          <p:cNvSpPr/>
          <p:nvPr/>
        </p:nvSpPr>
        <p:spPr>
          <a:xfrm>
            <a:off x="822960" y="4160520"/>
            <a:ext cx="3154680" cy="1463040"/>
          </a:xfrm>
          <a:prstGeom prst="rect">
            <a:avLst/>
          </a:prstGeom>
          <a:noFill/>
          <a:ln/>
        </p:spPr>
        <p:txBody>
          <a:bodyPr wrap="square" lIns="0" tIns="0" rIns="0" bIns="0" rtlCol="0" anchor="ctr"/>
          <a:lstStyle/>
          <a:p>
            <a:pPr marL="0" indent="0">
              <a:lnSpc>
                <a:spcPct val="115000"/>
              </a:lnSpc>
              <a:buNone/>
            </a:pPr>
            <a:r>
              <a:rPr lang="en-US" sz="1300" dirty="0">
                <a:solidFill>
                  <a:srgbClr val="D7E2F8"/>
                </a:solidFill>
                <a:latin typeface="Calibri" pitchFamily="34" charset="0"/>
                <a:ea typeface="Calibri" pitchFamily="34" charset="-122"/>
                <a:cs typeface="Calibri" pitchFamily="34" charset="-120"/>
              </a:rPr>
              <a:t>A factual price claim. My analysis shows it is false on average and only true in narrow segments, so use it sparingly and only where proven.</a:t>
            </a:r>
            <a:endParaRPr lang="en-US" sz="1300" dirty="0"/>
          </a:p>
        </p:txBody>
      </p:sp>
      <p:sp>
        <p:nvSpPr>
          <p:cNvPr id="10" name="Shape 7"/>
          <p:cNvSpPr/>
          <p:nvPr/>
        </p:nvSpPr>
        <p:spPr>
          <a:xfrm>
            <a:off x="4270248" y="2377440"/>
            <a:ext cx="3611880" cy="3383280"/>
          </a:xfrm>
          <a:prstGeom prst="rect">
            <a:avLst/>
          </a:prstGeom>
          <a:solidFill>
            <a:srgbClr val="17249E"/>
          </a:solidFill>
          <a:ln/>
        </p:spPr>
        <p:txBody>
          <a:bodyPr/>
          <a:lstStyle/>
          <a:p>
            <a:endParaRPr lang="en-IN"/>
          </a:p>
        </p:txBody>
      </p:sp>
      <p:sp>
        <p:nvSpPr>
          <p:cNvPr id="11" name="Shape 8"/>
          <p:cNvSpPr/>
          <p:nvPr/>
        </p:nvSpPr>
        <p:spPr>
          <a:xfrm>
            <a:off x="4544568" y="2697480"/>
            <a:ext cx="640080" cy="640080"/>
          </a:xfrm>
          <a:prstGeom prst="ellipse">
            <a:avLst/>
          </a:prstGeom>
          <a:solidFill>
            <a:srgbClr val="10239E"/>
          </a:solidFill>
          <a:ln w="12700">
            <a:solidFill>
              <a:srgbClr val="1FA8C9"/>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4690872" y="2843784"/>
            <a:ext cx="347472" cy="347472"/>
          </a:xfrm>
          <a:prstGeom prst="rect">
            <a:avLst/>
          </a:prstGeom>
        </p:spPr>
      </p:pic>
      <p:sp>
        <p:nvSpPr>
          <p:cNvPr id="15" name="Shape 11"/>
          <p:cNvSpPr/>
          <p:nvPr/>
        </p:nvSpPr>
        <p:spPr>
          <a:xfrm>
            <a:off x="7991856" y="2377440"/>
            <a:ext cx="3611880" cy="3383280"/>
          </a:xfrm>
          <a:prstGeom prst="rect">
            <a:avLst/>
          </a:prstGeom>
          <a:solidFill>
            <a:srgbClr val="17249E"/>
          </a:solidFill>
          <a:ln/>
        </p:spPr>
        <p:txBody>
          <a:bodyPr/>
          <a:lstStyle/>
          <a:p>
            <a:endParaRPr lang="en-IN"/>
          </a:p>
        </p:txBody>
      </p:sp>
      <p:sp>
        <p:nvSpPr>
          <p:cNvPr id="16" name="Shape 12"/>
          <p:cNvSpPr/>
          <p:nvPr/>
        </p:nvSpPr>
        <p:spPr>
          <a:xfrm>
            <a:off x="8266176" y="2697480"/>
            <a:ext cx="640080" cy="640080"/>
          </a:xfrm>
          <a:prstGeom prst="ellipse">
            <a:avLst/>
          </a:prstGeom>
          <a:solidFill>
            <a:srgbClr val="10239E"/>
          </a:solidFill>
          <a:ln w="12700">
            <a:solidFill>
              <a:srgbClr val="1FA8C9"/>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8412480" y="2843784"/>
            <a:ext cx="347472" cy="347472"/>
          </a:xfrm>
          <a:prstGeom prst="rect">
            <a:avLst/>
          </a:prstGeom>
        </p:spPr>
      </p:pic>
      <p:sp>
        <p:nvSpPr>
          <p:cNvPr id="18" name="Text 13"/>
          <p:cNvSpPr/>
          <p:nvPr/>
        </p:nvSpPr>
        <p:spPr>
          <a:xfrm>
            <a:off x="8266176" y="3474720"/>
            <a:ext cx="3108960" cy="640080"/>
          </a:xfrm>
          <a:prstGeom prst="rect">
            <a:avLst/>
          </a:prstGeom>
          <a:noFill/>
          <a:ln/>
        </p:spPr>
        <p:txBody>
          <a:bodyPr wrap="square" lIns="0" tIns="0" rIns="0" bIns="0" rtlCol="0" anchor="ctr"/>
          <a:lstStyle/>
          <a:p>
            <a:r>
              <a:rPr lang="en-US" sz="2700" b="1" dirty="0">
                <a:solidFill>
                  <a:srgbClr val="FF9900"/>
                </a:solidFill>
                <a:latin typeface="Calibri" pitchFamily="34" charset="0"/>
                <a:ea typeface="Calibri" pitchFamily="34" charset="-122"/>
                <a:cs typeface="Calibri" pitchFamily="34" charset="-120"/>
              </a:rPr>
              <a:t>Honest by need</a:t>
            </a:r>
            <a:endParaRPr lang="en-US" sz="2700" dirty="0"/>
          </a:p>
        </p:txBody>
      </p:sp>
      <p:sp>
        <p:nvSpPr>
          <p:cNvPr id="19" name="Text 14"/>
          <p:cNvSpPr/>
          <p:nvPr/>
        </p:nvSpPr>
        <p:spPr>
          <a:xfrm>
            <a:off x="8266176" y="4160520"/>
            <a:ext cx="3154680" cy="1463040"/>
          </a:xfrm>
          <a:prstGeom prst="rect">
            <a:avLst/>
          </a:prstGeom>
          <a:noFill/>
          <a:ln/>
        </p:spPr>
        <p:txBody>
          <a:bodyPr wrap="square" lIns="0" tIns="0" rIns="0" bIns="0" rtlCol="0" anchor="ctr"/>
          <a:lstStyle/>
          <a:p>
            <a:pPr>
              <a:lnSpc>
                <a:spcPct val="115000"/>
              </a:lnSpc>
            </a:pPr>
            <a:r>
              <a:rPr lang="en-US" sz="1300" dirty="0">
                <a:solidFill>
                  <a:srgbClr val="D7E2F8"/>
                </a:solidFill>
                <a:latin typeface="Calibri" pitchFamily="34" charset="0"/>
                <a:ea typeface="Calibri" pitchFamily="34" charset="-122"/>
                <a:cs typeface="Calibri" pitchFamily="34" charset="-120"/>
              </a:rPr>
              <a:t>A blanket “prices are rising” claim would mislead ~half of guests ; layer the price-rise message only on proven &gt;50% segments.</a:t>
            </a:r>
            <a:endParaRPr lang="en-US" sz="1300" dirty="0"/>
          </a:p>
        </p:txBody>
      </p:sp>
      <p:pic>
        <p:nvPicPr>
          <p:cNvPr id="21" name="Picture 20">
            <a:extLst>
              <a:ext uri="{FF2B5EF4-FFF2-40B4-BE49-F238E27FC236}">
                <a16:creationId xmlns:a16="http://schemas.microsoft.com/office/drawing/2014/main" id="{DA505912-F9F4-F708-705E-5D02C4C4B0F0}"/>
              </a:ext>
            </a:extLst>
          </p:cNvPr>
          <p:cNvPicPr>
            <a:picLocks noChangeAspect="1"/>
          </p:cNvPicPr>
          <p:nvPr/>
        </p:nvPicPr>
        <p:blipFill>
          <a:blip r:embed="rId6"/>
          <a:stretch>
            <a:fillRect/>
          </a:stretch>
        </p:blipFill>
        <p:spPr>
          <a:xfrm>
            <a:off x="10813872" y="-44952"/>
            <a:ext cx="1376825" cy="903197"/>
          </a:xfrm>
          <a:prstGeom prst="rect">
            <a:avLst/>
          </a:prstGeom>
        </p:spPr>
      </p:pic>
      <p:sp>
        <p:nvSpPr>
          <p:cNvPr id="24" name="Text 9">
            <a:extLst>
              <a:ext uri="{FF2B5EF4-FFF2-40B4-BE49-F238E27FC236}">
                <a16:creationId xmlns:a16="http://schemas.microsoft.com/office/drawing/2014/main" id="{A3D8D5D6-648C-CBAB-B12F-3FFA8CD8A10A}"/>
              </a:ext>
            </a:extLst>
          </p:cNvPr>
          <p:cNvSpPr/>
          <p:nvPr/>
        </p:nvSpPr>
        <p:spPr>
          <a:xfrm>
            <a:off x="4585615" y="3567093"/>
            <a:ext cx="3108960" cy="640080"/>
          </a:xfrm>
          <a:prstGeom prst="rect">
            <a:avLst/>
          </a:prstGeom>
          <a:noFill/>
          <a:ln/>
        </p:spPr>
        <p:txBody>
          <a:bodyPr wrap="square" lIns="0" tIns="0" rIns="0" bIns="0" rtlCol="0" anchor="ctr"/>
          <a:lstStyle/>
          <a:p>
            <a:pPr marL="0" indent="0">
              <a:buNone/>
            </a:pPr>
            <a:r>
              <a:rPr lang="en-US" sz="2700" b="1" dirty="0">
                <a:solidFill>
                  <a:srgbClr val="FF9900"/>
                </a:solidFill>
                <a:latin typeface="Calibri" pitchFamily="34" charset="0"/>
                <a:ea typeface="Calibri" pitchFamily="34" charset="-122"/>
                <a:cs typeface="Calibri" pitchFamily="34" charset="-120"/>
              </a:rPr>
              <a:t>47.5%      / 52.5%</a:t>
            </a:r>
            <a:endParaRPr lang="en-US" sz="2700" dirty="0"/>
          </a:p>
        </p:txBody>
      </p:sp>
      <p:sp>
        <p:nvSpPr>
          <p:cNvPr id="25" name="Text 10">
            <a:extLst>
              <a:ext uri="{FF2B5EF4-FFF2-40B4-BE49-F238E27FC236}">
                <a16:creationId xmlns:a16="http://schemas.microsoft.com/office/drawing/2014/main" id="{76553E61-6C8D-968D-81EB-E7C1AC47A8C4}"/>
              </a:ext>
            </a:extLst>
          </p:cNvPr>
          <p:cNvSpPr/>
          <p:nvPr/>
        </p:nvSpPr>
        <p:spPr>
          <a:xfrm>
            <a:off x="4544568" y="4160520"/>
            <a:ext cx="3154680" cy="1463040"/>
          </a:xfrm>
          <a:prstGeom prst="rect">
            <a:avLst/>
          </a:prstGeom>
          <a:noFill/>
          <a:ln/>
        </p:spPr>
        <p:txBody>
          <a:bodyPr wrap="square" lIns="0" tIns="0" rIns="0" bIns="0" rtlCol="0" anchor="ctr"/>
          <a:lstStyle/>
          <a:p>
            <a:pPr marL="0" indent="0">
              <a:lnSpc>
                <a:spcPct val="115000"/>
              </a:lnSpc>
              <a:buNone/>
            </a:pPr>
            <a:r>
              <a:rPr lang="en-US" sz="1300" dirty="0">
                <a:solidFill>
                  <a:srgbClr val="D7E2F8"/>
                </a:solidFill>
                <a:latin typeface="Calibri" pitchFamily="34" charset="0"/>
                <a:ea typeface="Calibri" pitchFamily="34" charset="-122"/>
                <a:cs typeface="Calibri" pitchFamily="34" charset="-120"/>
              </a:rPr>
              <a:t>For any given room-night, price is as likely to fall as rise : a coin-flip.</a:t>
            </a:r>
            <a:endParaRPr lang="en-US" sz="1300" dirty="0"/>
          </a:p>
        </p:txBody>
      </p:sp>
      <p:sp>
        <p:nvSpPr>
          <p:cNvPr id="26" name="Arrow: Up 25">
            <a:extLst>
              <a:ext uri="{FF2B5EF4-FFF2-40B4-BE49-F238E27FC236}">
                <a16:creationId xmlns:a16="http://schemas.microsoft.com/office/drawing/2014/main" id="{F8436262-337F-191E-46C6-BC63E146C838}"/>
              </a:ext>
            </a:extLst>
          </p:cNvPr>
          <p:cNvSpPr/>
          <p:nvPr/>
        </p:nvSpPr>
        <p:spPr>
          <a:xfrm>
            <a:off x="5576783" y="3707111"/>
            <a:ext cx="267848" cy="271464"/>
          </a:xfrm>
          <a:prstGeom prst="upArrow">
            <a:avLst/>
          </a:prstGeom>
          <a:solidFill>
            <a:srgbClr val="92D050"/>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Up 26">
            <a:extLst>
              <a:ext uri="{FF2B5EF4-FFF2-40B4-BE49-F238E27FC236}">
                <a16:creationId xmlns:a16="http://schemas.microsoft.com/office/drawing/2014/main" id="{350D0F18-79AB-BE84-523C-CAB550D36430}"/>
              </a:ext>
            </a:extLst>
          </p:cNvPr>
          <p:cNvSpPr/>
          <p:nvPr/>
        </p:nvSpPr>
        <p:spPr>
          <a:xfrm rot="10800000">
            <a:off x="7063072" y="3707111"/>
            <a:ext cx="267847" cy="271463"/>
          </a:xfrm>
          <a:prstGeom prst="upArrow">
            <a:avLst/>
          </a:prstGeom>
          <a:solidFill>
            <a:srgbClr val="C00000"/>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 15">
            <a:extLst>
              <a:ext uri="{FF2B5EF4-FFF2-40B4-BE49-F238E27FC236}">
                <a16:creationId xmlns:a16="http://schemas.microsoft.com/office/drawing/2014/main" id="{17C5BA8B-4224-9DC2-BD0C-FC1D0597C4F2}"/>
              </a:ext>
            </a:extLst>
          </p:cNvPr>
          <p:cNvSpPr/>
          <p:nvPr/>
        </p:nvSpPr>
        <p:spPr>
          <a:xfrm>
            <a:off x="607975" y="6141720"/>
            <a:ext cx="11064240" cy="457200"/>
          </a:xfrm>
          <a:prstGeom prst="rect">
            <a:avLst/>
          </a:prstGeom>
          <a:noFill/>
          <a:ln/>
        </p:spPr>
        <p:txBody>
          <a:bodyPr wrap="square" lIns="0" tIns="0" rIns="0" bIns="0" rtlCol="0" anchor="ctr"/>
          <a:lstStyle/>
          <a:p>
            <a:r>
              <a:rPr lang="en-IN" b="1" i="1" dirty="0">
                <a:solidFill>
                  <a:srgbClr val="1FA8C9"/>
                </a:solidFill>
                <a:latin typeface="Calibri Light" pitchFamily="34" charset="0"/>
                <a:ea typeface="Calibri Light" pitchFamily="34" charset="-122"/>
                <a:cs typeface="Calibri Light" pitchFamily="34" charset="-120"/>
              </a:rPr>
              <a:t>The myth is debunked but the opportunity isn't dead. It just moves from whether prices rise to where they genuinely do.</a:t>
            </a:r>
          </a:p>
          <a:p>
            <a:pPr marL="0" indent="0">
              <a:buNone/>
            </a:pPr>
            <a:endParaRPr lang="en-US" b="1" dirty="0"/>
          </a:p>
        </p:txBody>
      </p:sp>
      <p:sp>
        <p:nvSpPr>
          <p:cNvPr id="29" name="Text 2">
            <a:extLst>
              <a:ext uri="{FF2B5EF4-FFF2-40B4-BE49-F238E27FC236}">
                <a16:creationId xmlns:a16="http://schemas.microsoft.com/office/drawing/2014/main" id="{0551457A-D44D-1393-01A3-975789BF13B2}"/>
              </a:ext>
            </a:extLst>
          </p:cNvPr>
          <p:cNvSpPr/>
          <p:nvPr/>
        </p:nvSpPr>
        <p:spPr>
          <a:xfrm>
            <a:off x="566928" y="1554480"/>
            <a:ext cx="10972800" cy="457200"/>
          </a:xfrm>
          <a:prstGeom prst="rect">
            <a:avLst/>
          </a:prstGeom>
          <a:noFill/>
          <a:ln/>
        </p:spPr>
        <p:txBody>
          <a:bodyPr wrap="square" lIns="0" tIns="0" rIns="0" bIns="0" rtlCol="0" anchor="ctr"/>
          <a:lstStyle/>
          <a:p>
            <a:pPr marL="0" indent="0">
              <a:buNone/>
            </a:pPr>
            <a:r>
              <a:rPr lang="en-US" sz="1500" i="1" dirty="0">
                <a:solidFill>
                  <a:schemeClr val="bg1"/>
                </a:solidFill>
                <a:latin typeface="Calibri Light" pitchFamily="34" charset="0"/>
                <a:ea typeface="Calibri Light" pitchFamily="34" charset="-122"/>
                <a:cs typeface="Calibri Light" pitchFamily="34" charset="-120"/>
              </a:rPr>
              <a:t>Premium inventory sells early; cheaper and distressed rooms remain near the date. That mix created the illusion.</a:t>
            </a:r>
            <a:endParaRPr lang="en-US" sz="1500" i="1"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200" dirty="0">
                <a:solidFill>
                  <a:srgbClr val="10239E"/>
                </a:solidFill>
                <a:latin typeface="Calibri" pitchFamily="34" charset="0"/>
                <a:ea typeface="Calibri" pitchFamily="34" charset="-122"/>
                <a:cs typeface="Calibri" pitchFamily="34" charset="-120"/>
              </a:rPr>
              <a:t>07  ·  THE OPPORTUNITY</a:t>
            </a:r>
            <a:endParaRPr lang="en-US" sz="120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2800" b="1" dirty="0">
                <a:solidFill>
                  <a:srgbClr val="1C2233"/>
                </a:solidFill>
                <a:latin typeface="Calibri" pitchFamily="34" charset="0"/>
                <a:ea typeface="Calibri" pitchFamily="34" charset="-122"/>
                <a:cs typeface="Calibri" pitchFamily="34" charset="-120"/>
              </a:rPr>
              <a:t>Where the message is genuinely honest ?</a:t>
            </a:r>
            <a:endParaRPr lang="en-US" sz="2800" dirty="0"/>
          </a:p>
        </p:txBody>
      </p:sp>
      <p:pic>
        <p:nvPicPr>
          <p:cNvPr id="5" name="Image 0" descr="final_segment.png"/>
          <p:cNvPicPr>
            <a:picLocks noChangeAspect="1"/>
          </p:cNvPicPr>
          <p:nvPr/>
        </p:nvPicPr>
        <p:blipFill>
          <a:blip r:embed="rId3"/>
          <a:stretch>
            <a:fillRect/>
          </a:stretch>
        </p:blipFill>
        <p:spPr>
          <a:xfrm>
            <a:off x="115334" y="1562542"/>
            <a:ext cx="7337026" cy="44724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Shape 3"/>
          <p:cNvSpPr/>
          <p:nvPr/>
        </p:nvSpPr>
        <p:spPr>
          <a:xfrm>
            <a:off x="7589520" y="1600200"/>
            <a:ext cx="4023360" cy="3291840"/>
          </a:xfrm>
          <a:prstGeom prst="rect">
            <a:avLst/>
          </a:prstGeom>
          <a:solidFill>
            <a:srgbClr val="10239E"/>
          </a:solidFill>
          <a:ln/>
        </p:spPr>
        <p:txBody>
          <a:bodyPr/>
          <a:lstStyle/>
          <a:p>
            <a:endParaRPr lang="en-IN"/>
          </a:p>
        </p:txBody>
      </p:sp>
      <p:sp>
        <p:nvSpPr>
          <p:cNvPr id="7" name="Text 4"/>
          <p:cNvSpPr/>
          <p:nvPr/>
        </p:nvSpPr>
        <p:spPr>
          <a:xfrm>
            <a:off x="7863840" y="1828800"/>
            <a:ext cx="3474720" cy="320040"/>
          </a:xfrm>
          <a:prstGeom prst="rect">
            <a:avLst/>
          </a:prstGeom>
          <a:noFill/>
          <a:ln/>
        </p:spPr>
        <p:txBody>
          <a:bodyPr wrap="square" rtlCol="0" anchor="ctr"/>
          <a:lstStyle/>
          <a:p>
            <a:pPr marL="0" indent="0">
              <a:buNone/>
            </a:pPr>
            <a:r>
              <a:rPr lang="en-US" sz="1200" b="1" kern="0" spc="200" dirty="0">
                <a:solidFill>
                  <a:srgbClr val="1FA8C9"/>
                </a:solidFill>
                <a:latin typeface="Calibri" pitchFamily="34" charset="0"/>
                <a:ea typeface="Calibri" pitchFamily="34" charset="-122"/>
                <a:cs typeface="Calibri" pitchFamily="34" charset="-120"/>
              </a:rPr>
              <a:t>HERO TARGET</a:t>
            </a:r>
            <a:endParaRPr lang="en-US" sz="1200" dirty="0"/>
          </a:p>
        </p:txBody>
      </p:sp>
      <p:sp>
        <p:nvSpPr>
          <p:cNvPr id="8" name="Text 5"/>
          <p:cNvSpPr/>
          <p:nvPr/>
        </p:nvSpPr>
        <p:spPr>
          <a:xfrm>
            <a:off x="7863840" y="2240280"/>
            <a:ext cx="3566160" cy="64008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City D + Weekend + 4-5 star</a:t>
            </a:r>
            <a:endParaRPr lang="en-US" sz="1900" dirty="0"/>
          </a:p>
        </p:txBody>
      </p:sp>
      <p:sp>
        <p:nvSpPr>
          <p:cNvPr id="9" name="Text 6"/>
          <p:cNvSpPr/>
          <p:nvPr/>
        </p:nvSpPr>
        <p:spPr>
          <a:xfrm>
            <a:off x="7863840" y="2926080"/>
            <a:ext cx="3474720" cy="914400"/>
          </a:xfrm>
          <a:prstGeom prst="rect">
            <a:avLst/>
          </a:prstGeom>
          <a:noFill/>
          <a:ln/>
        </p:spPr>
        <p:txBody>
          <a:bodyPr wrap="square" rtlCol="0" anchor="ctr"/>
          <a:lstStyle/>
          <a:p>
            <a:pPr marL="0" indent="0">
              <a:buNone/>
            </a:pPr>
            <a:r>
              <a:rPr lang="en-US" sz="5400" b="1" dirty="0">
                <a:solidFill>
                  <a:srgbClr val="FF9900"/>
                </a:solidFill>
                <a:latin typeface="Calibri" pitchFamily="34" charset="0"/>
                <a:ea typeface="Calibri" pitchFamily="34" charset="-122"/>
                <a:cs typeface="Calibri" pitchFamily="34" charset="-120"/>
              </a:rPr>
              <a:t>82%</a:t>
            </a:r>
            <a:endParaRPr lang="en-US" sz="5400" dirty="0"/>
          </a:p>
        </p:txBody>
      </p:sp>
      <p:sp>
        <p:nvSpPr>
          <p:cNvPr id="10" name="Text 7"/>
          <p:cNvSpPr/>
          <p:nvPr/>
        </p:nvSpPr>
        <p:spPr>
          <a:xfrm>
            <a:off x="7863840" y="3977640"/>
            <a:ext cx="3520440" cy="822960"/>
          </a:xfrm>
          <a:prstGeom prst="rect">
            <a:avLst/>
          </a:prstGeom>
          <a:noFill/>
          <a:ln/>
        </p:spPr>
        <p:txBody>
          <a:bodyPr wrap="square" rtlCol="0" anchor="ctr"/>
          <a:lstStyle/>
          <a:p>
            <a:pPr marL="0" indent="0">
              <a:lnSpc>
                <a:spcPct val="115000"/>
              </a:lnSpc>
              <a:buNone/>
            </a:pPr>
            <a:r>
              <a:rPr lang="en-US" sz="1300" dirty="0">
                <a:solidFill>
                  <a:srgbClr val="E3ECFB"/>
                </a:solidFill>
                <a:latin typeface="Calibri" pitchFamily="34" charset="0"/>
                <a:ea typeface="Calibri" pitchFamily="34" charset="-122"/>
                <a:cs typeface="Calibri" pitchFamily="34" charset="-120"/>
              </a:rPr>
              <a:t>of room-nights genuinely rise toward check-in : here the message is accurate, not a guess.</a:t>
            </a:r>
            <a:endParaRPr lang="en-US" sz="1300" dirty="0"/>
          </a:p>
        </p:txBody>
      </p:sp>
      <p:sp>
        <p:nvSpPr>
          <p:cNvPr id="11" name="Shape 8"/>
          <p:cNvSpPr/>
          <p:nvPr/>
        </p:nvSpPr>
        <p:spPr>
          <a:xfrm>
            <a:off x="7589520" y="5120640"/>
            <a:ext cx="64008" cy="914400"/>
          </a:xfrm>
          <a:prstGeom prst="rect">
            <a:avLst/>
          </a:prstGeom>
          <a:solidFill>
            <a:srgbClr val="2B5CE6"/>
          </a:solidFill>
          <a:ln/>
        </p:spPr>
        <p:txBody>
          <a:bodyPr/>
          <a:lstStyle/>
          <a:p>
            <a:endParaRPr lang="en-IN"/>
          </a:p>
        </p:txBody>
      </p:sp>
      <p:sp>
        <p:nvSpPr>
          <p:cNvPr id="12" name="Text 9"/>
          <p:cNvSpPr/>
          <p:nvPr/>
        </p:nvSpPr>
        <p:spPr>
          <a:xfrm>
            <a:off x="7818120" y="5120640"/>
            <a:ext cx="3794760" cy="914400"/>
          </a:xfrm>
          <a:prstGeom prst="rect">
            <a:avLst/>
          </a:prstGeom>
          <a:noFill/>
          <a:ln/>
        </p:spPr>
        <p:txBody>
          <a:bodyPr wrap="square" rtlCol="0" anchor="ctr"/>
          <a:lstStyle/>
          <a:p>
            <a:pPr marL="0" indent="0">
              <a:lnSpc>
                <a:spcPct val="115000"/>
              </a:lnSpc>
              <a:buNone/>
            </a:pPr>
            <a:r>
              <a:rPr lang="en-US" sz="1300" b="1" dirty="0">
                <a:solidFill>
                  <a:srgbClr val="10239E"/>
                </a:solidFill>
                <a:latin typeface="Calibri" pitchFamily="34" charset="0"/>
                <a:ea typeface="Calibri" pitchFamily="34" charset="-122"/>
                <a:cs typeface="Calibri" pitchFamily="34" charset="-120"/>
              </a:rPr>
              <a:t>Rule:  </a:t>
            </a:r>
            <a:r>
              <a:rPr lang="en-US" sz="1300" dirty="0">
                <a:solidFill>
                  <a:srgbClr val="1C2233"/>
                </a:solidFill>
                <a:latin typeface="Calibri" pitchFamily="34" charset="0"/>
                <a:ea typeface="Calibri" pitchFamily="34" charset="-122"/>
                <a:cs typeface="Calibri" pitchFamily="34" charset="-120"/>
              </a:rPr>
              <a:t>price-rise wording only above the 50% line; target the top 3 segments &amp; their combinations.</a:t>
            </a:r>
            <a:endParaRPr lang="en-US" sz="1300" dirty="0"/>
          </a:p>
        </p:txBody>
      </p:sp>
      <p:pic>
        <p:nvPicPr>
          <p:cNvPr id="13" name="Picture 12">
            <a:extLst>
              <a:ext uri="{FF2B5EF4-FFF2-40B4-BE49-F238E27FC236}">
                <a16:creationId xmlns:a16="http://schemas.microsoft.com/office/drawing/2014/main" id="{B68DC278-C214-D3A4-D4A5-A47AD6B6FE57}"/>
              </a:ext>
            </a:extLst>
          </p:cNvPr>
          <p:cNvPicPr>
            <a:picLocks noChangeAspect="1"/>
          </p:cNvPicPr>
          <p:nvPr/>
        </p:nvPicPr>
        <p:blipFill>
          <a:blip r:embed="rId4"/>
          <a:stretch>
            <a:fillRect/>
          </a:stretch>
        </p:blipFill>
        <p:spPr>
          <a:xfrm>
            <a:off x="10813872" y="-44952"/>
            <a:ext cx="1376825" cy="9031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200" b="1" kern="0" spc="200" dirty="0">
                <a:solidFill>
                  <a:srgbClr val="10239E"/>
                </a:solidFill>
                <a:latin typeface="Calibri" pitchFamily="34" charset="0"/>
                <a:ea typeface="Calibri" pitchFamily="34" charset="-122"/>
                <a:cs typeface="Calibri" pitchFamily="34" charset="-120"/>
              </a:rPr>
              <a:t>08  ·  WHERE IT'S REAL</a:t>
            </a:r>
            <a:endParaRPr lang="en-US" sz="1200" dirty="0"/>
          </a:p>
        </p:txBody>
      </p:sp>
      <p:sp>
        <p:nvSpPr>
          <p:cNvPr id="3" name="Text 1"/>
          <p:cNvSpPr/>
          <p:nvPr/>
        </p:nvSpPr>
        <p:spPr>
          <a:xfrm>
            <a:off x="548640" y="676656"/>
            <a:ext cx="11064240" cy="640080"/>
          </a:xfrm>
          <a:prstGeom prst="rect">
            <a:avLst/>
          </a:prstGeom>
          <a:noFill/>
          <a:ln/>
        </p:spPr>
        <p:txBody>
          <a:bodyPr wrap="square" rtlCol="0" anchor="ctr"/>
          <a:lstStyle/>
          <a:p>
            <a:pPr marL="0" indent="0">
              <a:buNone/>
            </a:pPr>
            <a:r>
              <a:rPr lang="en-US" sz="2800" b="1" dirty="0">
                <a:solidFill>
                  <a:srgbClr val="1C2233"/>
                </a:solidFill>
                <a:latin typeface="Calibri" pitchFamily="34" charset="0"/>
                <a:ea typeface="Calibri" pitchFamily="34" charset="-122"/>
                <a:cs typeface="Calibri" pitchFamily="34" charset="-120"/>
              </a:rPr>
              <a:t>The average is flat : the segments are not</a:t>
            </a:r>
            <a:endParaRPr lang="en-US" sz="2800" dirty="0"/>
          </a:p>
        </p:txBody>
      </p:sp>
      <p:sp>
        <p:nvSpPr>
          <p:cNvPr id="4" name="Text 2"/>
          <p:cNvSpPr/>
          <p:nvPr/>
        </p:nvSpPr>
        <p:spPr>
          <a:xfrm>
            <a:off x="548640" y="1417320"/>
            <a:ext cx="11064240" cy="411480"/>
          </a:xfrm>
          <a:prstGeom prst="rect">
            <a:avLst/>
          </a:prstGeom>
          <a:noFill/>
          <a:ln/>
        </p:spPr>
        <p:txBody>
          <a:bodyPr wrap="square" rtlCol="0" anchor="ctr"/>
          <a:lstStyle/>
          <a:p>
            <a:pPr marL="0" indent="0">
              <a:buNone/>
            </a:pPr>
            <a:r>
              <a:rPr lang="en-US" sz="1500" i="1" dirty="0">
                <a:solidFill>
                  <a:srgbClr val="64748B"/>
                </a:solidFill>
                <a:latin typeface="Calibri" pitchFamily="34" charset="0"/>
                <a:ea typeface="Calibri" pitchFamily="34" charset="-122"/>
                <a:cs typeface="Calibri" pitchFamily="34" charset="-120"/>
              </a:rPr>
              <a:t>Stacking honest signals : the more aligned the segment, the more often prices genuinely rise.</a:t>
            </a:r>
            <a:endParaRPr lang="en-US" sz="1500" dirty="0"/>
          </a:p>
        </p:txBody>
      </p:sp>
      <p:sp>
        <p:nvSpPr>
          <p:cNvPr id="5" name="Text 3"/>
          <p:cNvSpPr/>
          <p:nvPr/>
        </p:nvSpPr>
        <p:spPr>
          <a:xfrm>
            <a:off x="548640" y="1920240"/>
            <a:ext cx="3842205" cy="320040"/>
          </a:xfrm>
          <a:prstGeom prst="rect">
            <a:avLst/>
          </a:prstGeom>
          <a:noFill/>
          <a:ln/>
        </p:spPr>
        <p:txBody>
          <a:bodyPr wrap="square" rtlCol="0" anchor="ctr"/>
          <a:lstStyle/>
          <a:p>
            <a:pPr marL="0" indent="0" algn="ctr">
              <a:buNone/>
            </a:pPr>
            <a:r>
              <a:rPr lang="en-US" sz="1400" b="1" dirty="0">
                <a:solidFill>
                  <a:srgbClr val="1C2233"/>
                </a:solidFill>
                <a:latin typeface="Calibri" pitchFamily="34" charset="0"/>
                <a:ea typeface="Calibri" pitchFamily="34" charset="-122"/>
                <a:cs typeface="Calibri" pitchFamily="34" charset="-120"/>
              </a:rPr>
              <a:t>Top 2-way combinations</a:t>
            </a:r>
            <a:endParaRPr lang="en-US" sz="1400" dirty="0"/>
          </a:p>
        </p:txBody>
      </p:sp>
      <p:sp>
        <p:nvSpPr>
          <p:cNvPr id="7" name="Text 4"/>
          <p:cNvSpPr/>
          <p:nvPr/>
        </p:nvSpPr>
        <p:spPr>
          <a:xfrm>
            <a:off x="6355080" y="1920240"/>
            <a:ext cx="3979365" cy="320040"/>
          </a:xfrm>
          <a:prstGeom prst="rect">
            <a:avLst/>
          </a:prstGeom>
          <a:noFill/>
          <a:ln/>
        </p:spPr>
        <p:txBody>
          <a:bodyPr wrap="square" rtlCol="0" anchor="ctr"/>
          <a:lstStyle/>
          <a:p>
            <a:pPr marL="0" indent="0" algn="ctr">
              <a:buNone/>
            </a:pPr>
            <a:r>
              <a:rPr lang="en-US" sz="1400" b="1" dirty="0">
                <a:solidFill>
                  <a:srgbClr val="1C2233"/>
                </a:solidFill>
                <a:latin typeface="Calibri" pitchFamily="34" charset="0"/>
                <a:ea typeface="Calibri" pitchFamily="34" charset="-122"/>
                <a:cs typeface="Calibri" pitchFamily="34" charset="-120"/>
              </a:rPr>
              <a:t>Top 3-way combinations</a:t>
            </a:r>
            <a:endParaRPr lang="en-US" sz="1400" dirty="0"/>
          </a:p>
        </p:txBody>
      </p:sp>
      <p:pic>
        <p:nvPicPr>
          <p:cNvPr id="10" name="Picture 9">
            <a:extLst>
              <a:ext uri="{FF2B5EF4-FFF2-40B4-BE49-F238E27FC236}">
                <a16:creationId xmlns:a16="http://schemas.microsoft.com/office/drawing/2014/main" id="{888E0BAF-D30E-A481-530C-939114097B02}"/>
              </a:ext>
            </a:extLst>
          </p:cNvPr>
          <p:cNvPicPr>
            <a:picLocks noChangeAspect="1"/>
          </p:cNvPicPr>
          <p:nvPr/>
        </p:nvPicPr>
        <p:blipFill>
          <a:blip r:embed="rId3"/>
          <a:stretch>
            <a:fillRect/>
          </a:stretch>
        </p:blipFill>
        <p:spPr>
          <a:xfrm>
            <a:off x="226300" y="2369678"/>
            <a:ext cx="5163822" cy="40696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4FDD6C98-66E4-84E0-9AD9-881E7BE5D0CD}"/>
              </a:ext>
            </a:extLst>
          </p:cNvPr>
          <p:cNvPicPr>
            <a:picLocks noChangeAspect="1"/>
          </p:cNvPicPr>
          <p:nvPr/>
        </p:nvPicPr>
        <p:blipFill>
          <a:blip r:embed="rId4"/>
          <a:stretch>
            <a:fillRect/>
          </a:stretch>
        </p:blipFill>
        <p:spPr>
          <a:xfrm>
            <a:off x="6420215" y="2303815"/>
            <a:ext cx="5163822" cy="41367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E4D26079-2788-8ED1-743D-2FD21999DF4C}"/>
              </a:ext>
            </a:extLst>
          </p:cNvPr>
          <p:cNvPicPr>
            <a:picLocks noChangeAspect="1"/>
          </p:cNvPicPr>
          <p:nvPr/>
        </p:nvPicPr>
        <p:blipFill>
          <a:blip r:embed="rId5"/>
          <a:stretch>
            <a:fillRect/>
          </a:stretch>
        </p:blipFill>
        <p:spPr>
          <a:xfrm>
            <a:off x="10813872" y="-44952"/>
            <a:ext cx="1376825" cy="9031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marL="0" indent="0">
              <a:buNone/>
            </a:pPr>
            <a:r>
              <a:rPr lang="en-US" sz="1200" b="1" kern="0" spc="200" dirty="0">
                <a:solidFill>
                  <a:srgbClr val="2B5CE6"/>
                </a:solidFill>
                <a:latin typeface="Calibri" pitchFamily="34" charset="0"/>
                <a:ea typeface="Calibri" pitchFamily="34" charset="-122"/>
                <a:cs typeface="Calibri" pitchFamily="34" charset="-120"/>
              </a:rPr>
              <a:t>09  ·  RECOMMENDATIONS</a:t>
            </a:r>
            <a:endParaRPr lang="en-US" sz="12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C2233"/>
                </a:solidFill>
                <a:latin typeface="Calibri" pitchFamily="34" charset="0"/>
                <a:ea typeface="Calibri" pitchFamily="34" charset="-122"/>
                <a:cs typeface="Calibri" pitchFamily="34" charset="-120"/>
              </a:rPr>
              <a:t>Recommendations to the Product Owner</a:t>
            </a:r>
            <a:endParaRPr lang="en-US" sz="3200" dirty="0"/>
          </a:p>
        </p:txBody>
      </p:sp>
      <p:sp>
        <p:nvSpPr>
          <p:cNvPr id="4" name="Text 2"/>
          <p:cNvSpPr/>
          <p:nvPr/>
        </p:nvSpPr>
        <p:spPr>
          <a:xfrm>
            <a:off x="566928" y="1508760"/>
            <a:ext cx="11064240" cy="457200"/>
          </a:xfrm>
          <a:prstGeom prst="rect">
            <a:avLst/>
          </a:prstGeom>
          <a:noFill/>
          <a:ln/>
        </p:spPr>
        <p:txBody>
          <a:bodyPr wrap="square" lIns="0" tIns="0" rIns="0" bIns="0" rtlCol="0" anchor="ctr"/>
          <a:lstStyle/>
          <a:p>
            <a:pPr marL="0" indent="0">
              <a:buNone/>
            </a:pPr>
            <a:r>
              <a:rPr lang="en-US" sz="1500" i="1" dirty="0">
                <a:solidFill>
                  <a:srgbClr val="2B5CE6"/>
                </a:solidFill>
                <a:latin typeface="Calibri Light" pitchFamily="34" charset="0"/>
                <a:ea typeface="Calibri Light" pitchFamily="34" charset="-122"/>
                <a:cs typeface="Calibri Light" pitchFamily="34" charset="-120"/>
              </a:rPr>
              <a:t>Targeted, honest, and proven before scaling.</a:t>
            </a:r>
            <a:endParaRPr lang="en-US" sz="1500" dirty="0"/>
          </a:p>
        </p:txBody>
      </p:sp>
      <p:sp>
        <p:nvSpPr>
          <p:cNvPr id="5" name="Shape 3"/>
          <p:cNvSpPr/>
          <p:nvPr/>
        </p:nvSpPr>
        <p:spPr>
          <a:xfrm>
            <a:off x="548640" y="2240280"/>
            <a:ext cx="11064240" cy="868680"/>
          </a:xfrm>
          <a:prstGeom prst="rect">
            <a:avLst/>
          </a:prstGeom>
          <a:solidFill>
            <a:srgbClr val="F4F6FB"/>
          </a:solidFill>
          <a:ln/>
        </p:spPr>
        <p:txBody>
          <a:bodyPr/>
          <a:lstStyle/>
          <a:p>
            <a:endParaRPr lang="en-IN"/>
          </a:p>
        </p:txBody>
      </p:sp>
      <p:sp>
        <p:nvSpPr>
          <p:cNvPr id="6" name="Shape 4"/>
          <p:cNvSpPr/>
          <p:nvPr/>
        </p:nvSpPr>
        <p:spPr>
          <a:xfrm>
            <a:off x="548640" y="2240280"/>
            <a:ext cx="91440" cy="868680"/>
          </a:xfrm>
          <a:prstGeom prst="rect">
            <a:avLst/>
          </a:prstGeom>
          <a:solidFill>
            <a:srgbClr val="2B5CE6"/>
          </a:solidFill>
          <a:ln/>
        </p:spPr>
        <p:txBody>
          <a:bodyPr/>
          <a:lstStyle/>
          <a:p>
            <a:endParaRPr lang="en-IN"/>
          </a:p>
        </p:txBody>
      </p:sp>
      <p:sp>
        <p:nvSpPr>
          <p:cNvPr id="7" name="Shape 5"/>
          <p:cNvSpPr/>
          <p:nvPr/>
        </p:nvSpPr>
        <p:spPr>
          <a:xfrm>
            <a:off x="777240" y="2441448"/>
            <a:ext cx="457200" cy="457200"/>
          </a:xfrm>
          <a:prstGeom prst="ellipse">
            <a:avLst/>
          </a:prstGeom>
          <a:solidFill>
            <a:srgbClr val="FFFFFF"/>
          </a:solidFill>
          <a:ln w="12700">
            <a:solidFill>
              <a:srgbClr val="2B5CE6"/>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877824" y="2542032"/>
            <a:ext cx="256032" cy="256032"/>
          </a:xfrm>
          <a:prstGeom prst="rect">
            <a:avLst/>
          </a:prstGeom>
        </p:spPr>
      </p:pic>
      <p:sp>
        <p:nvSpPr>
          <p:cNvPr id="9" name="Text 6"/>
          <p:cNvSpPr/>
          <p:nvPr/>
        </p:nvSpPr>
        <p:spPr>
          <a:xfrm>
            <a:off x="1417320" y="2350008"/>
            <a:ext cx="3108960" cy="640080"/>
          </a:xfrm>
          <a:prstGeom prst="rect">
            <a:avLst/>
          </a:prstGeom>
          <a:noFill/>
          <a:ln/>
        </p:spPr>
        <p:txBody>
          <a:bodyPr wrap="square" lIns="0" tIns="0" rIns="0" bIns="0" rtlCol="0" anchor="ctr"/>
          <a:lstStyle/>
          <a:p>
            <a:pPr marL="0" indent="0">
              <a:buNone/>
            </a:pPr>
            <a:r>
              <a:rPr lang="en-US" sz="1500" b="1" dirty="0">
                <a:solidFill>
                  <a:srgbClr val="1C2233"/>
                </a:solidFill>
                <a:latin typeface="Calibri" pitchFamily="34" charset="0"/>
                <a:ea typeface="Calibri" pitchFamily="34" charset="-122"/>
                <a:cs typeface="Calibri" pitchFamily="34" charset="-120"/>
              </a:rPr>
              <a:t>Default to scarcity</a:t>
            </a:r>
            <a:endParaRPr lang="en-US" sz="1500" dirty="0"/>
          </a:p>
        </p:txBody>
      </p:sp>
      <p:sp>
        <p:nvSpPr>
          <p:cNvPr id="10" name="Text 7"/>
          <p:cNvSpPr/>
          <p:nvPr/>
        </p:nvSpPr>
        <p:spPr>
          <a:xfrm>
            <a:off x="4572000" y="2350008"/>
            <a:ext cx="6858000" cy="640080"/>
          </a:xfrm>
          <a:prstGeom prst="rect">
            <a:avLst/>
          </a:prstGeom>
          <a:noFill/>
          <a:ln/>
        </p:spPr>
        <p:txBody>
          <a:bodyPr wrap="square" lIns="0" tIns="0" rIns="0" bIns="0" rtlCol="0" anchor="ctr"/>
          <a:lstStyle/>
          <a:p>
            <a:r>
              <a:rPr lang="en-IN" sz="1250" dirty="0">
                <a:solidFill>
                  <a:srgbClr val="1C2233"/>
                </a:solidFill>
                <a:latin typeface="Calibri" pitchFamily="34" charset="0"/>
                <a:ea typeface="Calibri" pitchFamily="34" charset="-122"/>
                <a:cs typeface="Calibri" pitchFamily="34" charset="-120"/>
              </a:rPr>
              <a:t>Use availability-based prompts ("limited rooms left") that hold true regardless of price direction.</a:t>
            </a:r>
            <a:endParaRPr lang="en-US" sz="1250" dirty="0">
              <a:solidFill>
                <a:srgbClr val="1C2233"/>
              </a:solidFill>
              <a:latin typeface="Calibri" pitchFamily="34" charset="0"/>
              <a:ea typeface="Calibri" pitchFamily="34" charset="-122"/>
              <a:cs typeface="Calibri" pitchFamily="34" charset="-120"/>
            </a:endParaRPr>
          </a:p>
        </p:txBody>
      </p:sp>
      <p:sp>
        <p:nvSpPr>
          <p:cNvPr id="11" name="Shape 8"/>
          <p:cNvSpPr/>
          <p:nvPr/>
        </p:nvSpPr>
        <p:spPr>
          <a:xfrm>
            <a:off x="548640" y="3200400"/>
            <a:ext cx="11064240" cy="868680"/>
          </a:xfrm>
          <a:prstGeom prst="rect">
            <a:avLst/>
          </a:prstGeom>
          <a:solidFill>
            <a:srgbClr val="F4F6FB"/>
          </a:solidFill>
          <a:ln/>
        </p:spPr>
        <p:txBody>
          <a:bodyPr/>
          <a:lstStyle/>
          <a:p>
            <a:endParaRPr lang="en-IN"/>
          </a:p>
        </p:txBody>
      </p:sp>
      <p:sp>
        <p:nvSpPr>
          <p:cNvPr id="12" name="Shape 9"/>
          <p:cNvSpPr/>
          <p:nvPr/>
        </p:nvSpPr>
        <p:spPr>
          <a:xfrm>
            <a:off x="548640" y="3200400"/>
            <a:ext cx="91440" cy="868680"/>
          </a:xfrm>
          <a:prstGeom prst="rect">
            <a:avLst/>
          </a:prstGeom>
          <a:solidFill>
            <a:srgbClr val="E5326E"/>
          </a:solidFill>
          <a:ln/>
        </p:spPr>
        <p:txBody>
          <a:bodyPr/>
          <a:lstStyle/>
          <a:p>
            <a:endParaRPr lang="en-IN"/>
          </a:p>
        </p:txBody>
      </p:sp>
      <p:sp>
        <p:nvSpPr>
          <p:cNvPr id="13" name="Shape 10"/>
          <p:cNvSpPr/>
          <p:nvPr/>
        </p:nvSpPr>
        <p:spPr>
          <a:xfrm>
            <a:off x="777240" y="3401568"/>
            <a:ext cx="457200" cy="457200"/>
          </a:xfrm>
          <a:prstGeom prst="ellipse">
            <a:avLst/>
          </a:prstGeom>
          <a:solidFill>
            <a:srgbClr val="FFFFFF"/>
          </a:solidFill>
          <a:ln w="12700">
            <a:solidFill>
              <a:srgbClr val="E5326E"/>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877824" y="3502152"/>
            <a:ext cx="256032" cy="256032"/>
          </a:xfrm>
          <a:prstGeom prst="rect">
            <a:avLst/>
          </a:prstGeom>
        </p:spPr>
      </p:pic>
      <p:sp>
        <p:nvSpPr>
          <p:cNvPr id="15" name="Text 11"/>
          <p:cNvSpPr/>
          <p:nvPr/>
        </p:nvSpPr>
        <p:spPr>
          <a:xfrm>
            <a:off x="1417320" y="3310128"/>
            <a:ext cx="3108960" cy="640080"/>
          </a:xfrm>
          <a:prstGeom prst="rect">
            <a:avLst/>
          </a:prstGeom>
          <a:noFill/>
          <a:ln/>
        </p:spPr>
        <p:txBody>
          <a:bodyPr wrap="square" lIns="0" tIns="0" rIns="0" bIns="0" rtlCol="0" anchor="ctr"/>
          <a:lstStyle/>
          <a:p>
            <a:pPr marL="0" indent="0">
              <a:buNone/>
            </a:pPr>
            <a:r>
              <a:rPr lang="en-US" sz="1500" b="1" dirty="0">
                <a:solidFill>
                  <a:srgbClr val="1C2233"/>
                </a:solidFill>
                <a:latin typeface="Calibri" pitchFamily="34" charset="0"/>
                <a:ea typeface="Calibri" pitchFamily="34" charset="-122"/>
                <a:cs typeface="Calibri" pitchFamily="34" charset="-120"/>
              </a:rPr>
              <a:t>Reserve price-rise for proof</a:t>
            </a:r>
            <a:endParaRPr lang="en-US" sz="1500" dirty="0"/>
          </a:p>
        </p:txBody>
      </p:sp>
      <p:sp>
        <p:nvSpPr>
          <p:cNvPr id="16" name="Text 12"/>
          <p:cNvSpPr/>
          <p:nvPr/>
        </p:nvSpPr>
        <p:spPr>
          <a:xfrm>
            <a:off x="4572000" y="3310128"/>
            <a:ext cx="6858000" cy="640080"/>
          </a:xfrm>
          <a:prstGeom prst="rect">
            <a:avLst/>
          </a:prstGeom>
          <a:noFill/>
          <a:ln/>
        </p:spPr>
        <p:txBody>
          <a:bodyPr wrap="square" lIns="0" tIns="0" rIns="0" bIns="0" rtlCol="0" anchor="ctr"/>
          <a:lstStyle/>
          <a:p>
            <a:pPr marL="0" indent="0">
              <a:lnSpc>
                <a:spcPct val="100000"/>
              </a:lnSpc>
              <a:buNone/>
            </a:pPr>
            <a:r>
              <a:rPr lang="en-US" sz="1250" dirty="0">
                <a:solidFill>
                  <a:srgbClr val="1C2233"/>
                </a:solidFill>
                <a:latin typeface="Calibri" pitchFamily="34" charset="0"/>
                <a:ea typeface="Calibri" pitchFamily="34" charset="-122"/>
                <a:cs typeface="Calibri" pitchFamily="34" charset="-120"/>
              </a:rPr>
              <a:t>Show “prices may rise” only on City D + Weekend + 4-5 star (82%) and other &gt;50% segments.</a:t>
            </a:r>
            <a:endParaRPr lang="en-US" sz="1250" dirty="0"/>
          </a:p>
        </p:txBody>
      </p:sp>
      <p:sp>
        <p:nvSpPr>
          <p:cNvPr id="17" name="Shape 13"/>
          <p:cNvSpPr/>
          <p:nvPr/>
        </p:nvSpPr>
        <p:spPr>
          <a:xfrm>
            <a:off x="548640" y="4160520"/>
            <a:ext cx="11064240" cy="868680"/>
          </a:xfrm>
          <a:prstGeom prst="rect">
            <a:avLst/>
          </a:prstGeom>
          <a:solidFill>
            <a:srgbClr val="F4F6FB"/>
          </a:solidFill>
          <a:ln/>
        </p:spPr>
        <p:txBody>
          <a:bodyPr/>
          <a:lstStyle/>
          <a:p>
            <a:endParaRPr lang="en-IN"/>
          </a:p>
        </p:txBody>
      </p:sp>
      <p:sp>
        <p:nvSpPr>
          <p:cNvPr id="18" name="Shape 14"/>
          <p:cNvSpPr/>
          <p:nvPr/>
        </p:nvSpPr>
        <p:spPr>
          <a:xfrm>
            <a:off x="548640" y="4160520"/>
            <a:ext cx="91440" cy="868680"/>
          </a:xfrm>
          <a:prstGeom prst="rect">
            <a:avLst/>
          </a:prstGeom>
          <a:solidFill>
            <a:srgbClr val="1FA8C9"/>
          </a:solidFill>
          <a:ln/>
        </p:spPr>
        <p:txBody>
          <a:bodyPr/>
          <a:lstStyle/>
          <a:p>
            <a:endParaRPr lang="en-IN"/>
          </a:p>
        </p:txBody>
      </p:sp>
      <p:sp>
        <p:nvSpPr>
          <p:cNvPr id="19" name="Shape 15"/>
          <p:cNvSpPr/>
          <p:nvPr/>
        </p:nvSpPr>
        <p:spPr>
          <a:xfrm>
            <a:off x="777240" y="4361688"/>
            <a:ext cx="457200" cy="457200"/>
          </a:xfrm>
          <a:prstGeom prst="ellipse">
            <a:avLst/>
          </a:prstGeom>
          <a:solidFill>
            <a:srgbClr val="FFFFFF"/>
          </a:solidFill>
          <a:ln w="12700">
            <a:solidFill>
              <a:srgbClr val="1FA8C9"/>
            </a:solidFill>
            <a:prstDash val="solid"/>
          </a:ln>
        </p:spPr>
        <p:txBody>
          <a:bodyPr/>
          <a:lstStyle/>
          <a:p>
            <a:endParaRPr lang="en-IN"/>
          </a:p>
        </p:txBody>
      </p:sp>
      <p:pic>
        <p:nvPicPr>
          <p:cNvPr id="20" name="Image 2" descr="preencoded.png"/>
          <p:cNvPicPr>
            <a:picLocks noChangeAspect="1"/>
          </p:cNvPicPr>
          <p:nvPr/>
        </p:nvPicPr>
        <p:blipFill>
          <a:blip r:embed="rId5"/>
          <a:stretch>
            <a:fillRect/>
          </a:stretch>
        </p:blipFill>
        <p:spPr>
          <a:xfrm>
            <a:off x="877824" y="4462272"/>
            <a:ext cx="256032" cy="256032"/>
          </a:xfrm>
          <a:prstGeom prst="rect">
            <a:avLst/>
          </a:prstGeom>
        </p:spPr>
      </p:pic>
      <p:sp>
        <p:nvSpPr>
          <p:cNvPr id="21" name="Text 16"/>
          <p:cNvSpPr/>
          <p:nvPr/>
        </p:nvSpPr>
        <p:spPr>
          <a:xfrm>
            <a:off x="1417320" y="4270248"/>
            <a:ext cx="3108960" cy="640080"/>
          </a:xfrm>
          <a:prstGeom prst="rect">
            <a:avLst/>
          </a:prstGeom>
          <a:noFill/>
          <a:ln/>
        </p:spPr>
        <p:txBody>
          <a:bodyPr wrap="square" lIns="0" tIns="0" rIns="0" bIns="0" rtlCol="0" anchor="ctr"/>
          <a:lstStyle/>
          <a:p>
            <a:pPr marL="0" indent="0">
              <a:buNone/>
            </a:pPr>
            <a:r>
              <a:rPr lang="en-US" sz="1500" b="1" dirty="0">
                <a:solidFill>
                  <a:srgbClr val="1C2233"/>
                </a:solidFill>
                <a:latin typeface="Calibri" pitchFamily="34" charset="0"/>
                <a:ea typeface="Calibri" pitchFamily="34" charset="-122"/>
                <a:cs typeface="Calibri" pitchFamily="34" charset="-120"/>
              </a:rPr>
              <a:t>Place at high intent</a:t>
            </a:r>
            <a:endParaRPr lang="en-US" sz="1500" dirty="0"/>
          </a:p>
        </p:txBody>
      </p:sp>
      <p:sp>
        <p:nvSpPr>
          <p:cNvPr id="22" name="Text 17"/>
          <p:cNvSpPr/>
          <p:nvPr/>
        </p:nvSpPr>
        <p:spPr>
          <a:xfrm>
            <a:off x="4572000" y="4270248"/>
            <a:ext cx="6858000" cy="640080"/>
          </a:xfrm>
          <a:prstGeom prst="rect">
            <a:avLst/>
          </a:prstGeom>
          <a:noFill/>
          <a:ln/>
        </p:spPr>
        <p:txBody>
          <a:bodyPr wrap="square" lIns="0" tIns="0" rIns="0" bIns="0" rtlCol="0" anchor="ctr"/>
          <a:lstStyle/>
          <a:p>
            <a:pPr marL="0" indent="0">
              <a:lnSpc>
                <a:spcPct val="100000"/>
              </a:lnSpc>
              <a:buNone/>
            </a:pPr>
            <a:r>
              <a:rPr lang="en-US" sz="1250" dirty="0">
                <a:solidFill>
                  <a:srgbClr val="1C2233"/>
                </a:solidFill>
                <a:latin typeface="Calibri" pitchFamily="34" charset="0"/>
                <a:ea typeface="Calibri" pitchFamily="34" charset="-122"/>
                <a:cs typeface="Calibri" pitchFamily="34" charset="-120"/>
              </a:rPr>
              <a:t>Property page &amp; booking form : closest to conversion, where a nudge converts without annoying browsers.</a:t>
            </a:r>
            <a:endParaRPr lang="en-US" sz="1250" dirty="0"/>
          </a:p>
        </p:txBody>
      </p:sp>
      <p:sp>
        <p:nvSpPr>
          <p:cNvPr id="23" name="Shape 18"/>
          <p:cNvSpPr/>
          <p:nvPr/>
        </p:nvSpPr>
        <p:spPr>
          <a:xfrm>
            <a:off x="548640" y="5120640"/>
            <a:ext cx="11064240" cy="868680"/>
          </a:xfrm>
          <a:prstGeom prst="rect">
            <a:avLst/>
          </a:prstGeom>
          <a:solidFill>
            <a:srgbClr val="F4F6FB"/>
          </a:solidFill>
          <a:ln/>
        </p:spPr>
        <p:txBody>
          <a:bodyPr/>
          <a:lstStyle/>
          <a:p>
            <a:endParaRPr lang="en-IN"/>
          </a:p>
        </p:txBody>
      </p:sp>
      <p:sp>
        <p:nvSpPr>
          <p:cNvPr id="24" name="Shape 19"/>
          <p:cNvSpPr/>
          <p:nvPr/>
        </p:nvSpPr>
        <p:spPr>
          <a:xfrm>
            <a:off x="548640" y="5120640"/>
            <a:ext cx="91440" cy="868680"/>
          </a:xfrm>
          <a:prstGeom prst="rect">
            <a:avLst/>
          </a:prstGeom>
          <a:solidFill>
            <a:srgbClr val="FF9900"/>
          </a:solidFill>
          <a:ln/>
        </p:spPr>
        <p:txBody>
          <a:bodyPr/>
          <a:lstStyle/>
          <a:p>
            <a:endParaRPr lang="en-IN"/>
          </a:p>
        </p:txBody>
      </p:sp>
      <p:sp>
        <p:nvSpPr>
          <p:cNvPr id="25" name="Shape 20"/>
          <p:cNvSpPr/>
          <p:nvPr/>
        </p:nvSpPr>
        <p:spPr>
          <a:xfrm>
            <a:off x="777240" y="5321808"/>
            <a:ext cx="457200" cy="457200"/>
          </a:xfrm>
          <a:prstGeom prst="ellipse">
            <a:avLst/>
          </a:prstGeom>
          <a:solidFill>
            <a:srgbClr val="FFFFFF"/>
          </a:solidFill>
          <a:ln w="12700">
            <a:solidFill>
              <a:srgbClr val="FF9900"/>
            </a:solidFill>
            <a:prstDash val="solid"/>
          </a:ln>
        </p:spPr>
        <p:txBody>
          <a:bodyPr/>
          <a:lstStyle/>
          <a:p>
            <a:endParaRPr lang="en-IN"/>
          </a:p>
        </p:txBody>
      </p:sp>
      <p:pic>
        <p:nvPicPr>
          <p:cNvPr id="26" name="Image 3" descr="preencoded.png"/>
          <p:cNvPicPr>
            <a:picLocks noChangeAspect="1"/>
          </p:cNvPicPr>
          <p:nvPr/>
        </p:nvPicPr>
        <p:blipFill>
          <a:blip r:embed="rId6"/>
          <a:stretch>
            <a:fillRect/>
          </a:stretch>
        </p:blipFill>
        <p:spPr>
          <a:xfrm>
            <a:off x="877824" y="5422392"/>
            <a:ext cx="256032" cy="256032"/>
          </a:xfrm>
          <a:prstGeom prst="rect">
            <a:avLst/>
          </a:prstGeom>
        </p:spPr>
      </p:pic>
      <p:sp>
        <p:nvSpPr>
          <p:cNvPr id="27" name="Text 21"/>
          <p:cNvSpPr/>
          <p:nvPr/>
        </p:nvSpPr>
        <p:spPr>
          <a:xfrm>
            <a:off x="1417320" y="5230368"/>
            <a:ext cx="3108960" cy="640080"/>
          </a:xfrm>
          <a:prstGeom prst="rect">
            <a:avLst/>
          </a:prstGeom>
          <a:noFill/>
          <a:ln/>
        </p:spPr>
        <p:txBody>
          <a:bodyPr wrap="square" lIns="0" tIns="0" rIns="0" bIns="0" rtlCol="0" anchor="ctr"/>
          <a:lstStyle/>
          <a:p>
            <a:pPr marL="0" indent="0">
              <a:buNone/>
            </a:pPr>
            <a:r>
              <a:rPr lang="en-US" sz="1500" b="1" dirty="0">
                <a:solidFill>
                  <a:srgbClr val="1C2233"/>
                </a:solidFill>
                <a:latin typeface="Calibri" pitchFamily="34" charset="0"/>
                <a:ea typeface="Calibri" pitchFamily="34" charset="-122"/>
                <a:cs typeface="Calibri" pitchFamily="34" charset="-120"/>
              </a:rPr>
              <a:t>Keep it honest by design</a:t>
            </a:r>
            <a:endParaRPr lang="en-US" sz="1500" dirty="0"/>
          </a:p>
        </p:txBody>
      </p:sp>
      <p:sp>
        <p:nvSpPr>
          <p:cNvPr id="28" name="Text 22"/>
          <p:cNvSpPr/>
          <p:nvPr/>
        </p:nvSpPr>
        <p:spPr>
          <a:xfrm>
            <a:off x="4572000" y="5230368"/>
            <a:ext cx="6858000" cy="640080"/>
          </a:xfrm>
          <a:prstGeom prst="rect">
            <a:avLst/>
          </a:prstGeom>
          <a:noFill/>
          <a:ln/>
        </p:spPr>
        <p:txBody>
          <a:bodyPr wrap="square" lIns="0" tIns="0" rIns="0" bIns="0" rtlCol="0" anchor="ctr"/>
          <a:lstStyle/>
          <a:p>
            <a:pPr marL="0" indent="0">
              <a:lnSpc>
                <a:spcPct val="100000"/>
              </a:lnSpc>
              <a:buNone/>
            </a:pPr>
            <a:r>
              <a:rPr lang="en-US" sz="1250" dirty="0">
                <a:solidFill>
                  <a:srgbClr val="1C2233"/>
                </a:solidFill>
                <a:latin typeface="Calibri" pitchFamily="34" charset="0"/>
                <a:ea typeface="Calibri" pitchFamily="34" charset="-122"/>
                <a:cs typeface="Calibri" pitchFamily="34" charset="-120"/>
              </a:rPr>
              <a:t>Tie wording to live price &amp; inventory signals : never a fake countdown. Protects trust and compliance.</a:t>
            </a:r>
            <a:endParaRPr lang="en-US" sz="1250" dirty="0"/>
          </a:p>
        </p:txBody>
      </p:sp>
      <p:pic>
        <p:nvPicPr>
          <p:cNvPr id="29" name="Picture 28">
            <a:extLst>
              <a:ext uri="{FF2B5EF4-FFF2-40B4-BE49-F238E27FC236}">
                <a16:creationId xmlns:a16="http://schemas.microsoft.com/office/drawing/2014/main" id="{FC464127-DE87-31F2-CE74-C6FEB860C3AF}"/>
              </a:ext>
            </a:extLst>
          </p:cNvPr>
          <p:cNvPicPr>
            <a:picLocks noChangeAspect="1"/>
          </p:cNvPicPr>
          <p:nvPr/>
        </p:nvPicPr>
        <p:blipFill>
          <a:blip r:embed="rId7"/>
          <a:stretch>
            <a:fillRect/>
          </a:stretch>
        </p:blipFill>
        <p:spPr>
          <a:xfrm>
            <a:off x="10813872" y="-44952"/>
            <a:ext cx="1376825" cy="9031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marL="0" indent="0">
              <a:buNone/>
            </a:pPr>
            <a:r>
              <a:rPr lang="en-US" sz="1200" b="1" kern="0" spc="200" dirty="0">
                <a:solidFill>
                  <a:srgbClr val="2B5CE6"/>
                </a:solidFill>
                <a:latin typeface="Calibri" pitchFamily="34" charset="0"/>
                <a:ea typeface="Calibri" pitchFamily="34" charset="-122"/>
                <a:cs typeface="Calibri" pitchFamily="34" charset="-120"/>
              </a:rPr>
              <a:t>10  ·  IMPACT &amp; VALIDATION</a:t>
            </a:r>
            <a:endParaRPr lang="en-US" sz="12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C2233"/>
                </a:solidFill>
                <a:latin typeface="Calibri" pitchFamily="34" charset="0"/>
                <a:ea typeface="Calibri" pitchFamily="34" charset="-122"/>
                <a:cs typeface="Calibri" pitchFamily="34" charset="-120"/>
              </a:rPr>
              <a:t>Sizing the prize : and proving it safely</a:t>
            </a:r>
            <a:endParaRPr lang="en-US" sz="3200" dirty="0"/>
          </a:p>
        </p:txBody>
      </p:sp>
      <p:sp>
        <p:nvSpPr>
          <p:cNvPr id="4" name="Text 2"/>
          <p:cNvSpPr/>
          <p:nvPr/>
        </p:nvSpPr>
        <p:spPr>
          <a:xfrm>
            <a:off x="566928" y="1508760"/>
            <a:ext cx="11064240" cy="457200"/>
          </a:xfrm>
          <a:prstGeom prst="rect">
            <a:avLst/>
          </a:prstGeom>
          <a:noFill/>
          <a:ln/>
        </p:spPr>
        <p:txBody>
          <a:bodyPr wrap="square" lIns="0" tIns="0" rIns="0" bIns="0" rtlCol="0" anchor="ctr"/>
          <a:lstStyle/>
          <a:p>
            <a:pPr marL="0" indent="0">
              <a:buNone/>
            </a:pPr>
            <a:r>
              <a:rPr lang="en-US" sz="1500" i="1" dirty="0">
                <a:solidFill>
                  <a:srgbClr val="2B5CE6"/>
                </a:solidFill>
                <a:latin typeface="Calibri Light" pitchFamily="34" charset="0"/>
                <a:ea typeface="Calibri Light" pitchFamily="34" charset="-122"/>
                <a:cs typeface="Calibri Light" pitchFamily="34" charset="-120"/>
              </a:rPr>
              <a:t>Illustrative, driven by conversion uplift on targeted segments.</a:t>
            </a:r>
            <a:endParaRPr lang="en-US" sz="1500" dirty="0"/>
          </a:p>
        </p:txBody>
      </p:sp>
      <p:sp>
        <p:nvSpPr>
          <p:cNvPr id="5" name="Shape 3"/>
          <p:cNvSpPr/>
          <p:nvPr/>
        </p:nvSpPr>
        <p:spPr>
          <a:xfrm>
            <a:off x="548640" y="2148840"/>
            <a:ext cx="2468880" cy="1417320"/>
          </a:xfrm>
          <a:prstGeom prst="rect">
            <a:avLst/>
          </a:prstGeom>
          <a:solidFill>
            <a:srgbClr val="F4F6FB"/>
          </a:solidFill>
          <a:ln/>
        </p:spPr>
        <p:txBody>
          <a:bodyPr/>
          <a:lstStyle/>
          <a:p>
            <a:endParaRPr lang="en-IN"/>
          </a:p>
        </p:txBody>
      </p:sp>
      <p:sp>
        <p:nvSpPr>
          <p:cNvPr id="6" name="Text 4"/>
          <p:cNvSpPr/>
          <p:nvPr/>
        </p:nvSpPr>
        <p:spPr>
          <a:xfrm>
            <a:off x="731520" y="2240280"/>
            <a:ext cx="2103120" cy="320040"/>
          </a:xfrm>
          <a:prstGeom prst="rect">
            <a:avLst/>
          </a:prstGeom>
          <a:noFill/>
          <a:ln/>
        </p:spPr>
        <p:txBody>
          <a:bodyPr wrap="square" lIns="0" tIns="0" rIns="0" bIns="0" rtlCol="0" anchor="ctr"/>
          <a:lstStyle/>
          <a:p>
            <a:pPr marL="0" indent="0">
              <a:buNone/>
            </a:pPr>
            <a:r>
              <a:rPr lang="en-US" sz="1250" b="1" dirty="0">
                <a:solidFill>
                  <a:srgbClr val="10239E"/>
                </a:solidFill>
                <a:latin typeface="Calibri" pitchFamily="34" charset="0"/>
                <a:ea typeface="Calibri" pitchFamily="34" charset="-122"/>
                <a:cs typeface="Calibri" pitchFamily="34" charset="-120"/>
              </a:rPr>
              <a:t>Conservative</a:t>
            </a:r>
            <a:endParaRPr lang="en-US" sz="1250" dirty="0"/>
          </a:p>
        </p:txBody>
      </p:sp>
      <p:sp>
        <p:nvSpPr>
          <p:cNvPr id="7" name="Text 5"/>
          <p:cNvSpPr/>
          <p:nvPr/>
        </p:nvSpPr>
        <p:spPr>
          <a:xfrm>
            <a:off x="731520" y="2542032"/>
            <a:ext cx="210312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+0.5% conversion</a:t>
            </a:r>
            <a:endParaRPr lang="en-US" sz="1050" dirty="0"/>
          </a:p>
        </p:txBody>
      </p:sp>
      <p:sp>
        <p:nvSpPr>
          <p:cNvPr id="8" name="Text 6"/>
          <p:cNvSpPr/>
          <p:nvPr/>
        </p:nvSpPr>
        <p:spPr>
          <a:xfrm>
            <a:off x="731520" y="2852928"/>
            <a:ext cx="2103120" cy="548640"/>
          </a:xfrm>
          <a:prstGeom prst="rect">
            <a:avLst/>
          </a:prstGeom>
          <a:noFill/>
          <a:ln/>
        </p:spPr>
        <p:txBody>
          <a:bodyPr wrap="square" lIns="0" tIns="0" rIns="0" bIns="0" rtlCol="0" anchor="ctr"/>
          <a:lstStyle/>
          <a:p>
            <a:pPr marL="0" indent="0">
              <a:buNone/>
            </a:pPr>
            <a:r>
              <a:rPr lang="en-US" sz="2200" b="1" dirty="0">
                <a:solidFill>
                  <a:srgbClr val="2B5CE6"/>
                </a:solidFill>
                <a:latin typeface="Calibri" pitchFamily="34" charset="0"/>
                <a:ea typeface="Calibri" pitchFamily="34" charset="-122"/>
                <a:cs typeface="Calibri" pitchFamily="34" charset="-120"/>
              </a:rPr>
              <a:t>≈ $1.3M</a:t>
            </a:r>
            <a:endParaRPr lang="en-US" sz="2200" dirty="0"/>
          </a:p>
        </p:txBody>
      </p:sp>
      <p:sp>
        <p:nvSpPr>
          <p:cNvPr id="9" name="Shape 7"/>
          <p:cNvSpPr/>
          <p:nvPr/>
        </p:nvSpPr>
        <p:spPr>
          <a:xfrm>
            <a:off x="3154680" y="2148840"/>
            <a:ext cx="2468880" cy="1417320"/>
          </a:xfrm>
          <a:prstGeom prst="rect">
            <a:avLst/>
          </a:prstGeom>
          <a:solidFill>
            <a:srgbClr val="F4F6FB"/>
          </a:solidFill>
          <a:ln/>
        </p:spPr>
        <p:txBody>
          <a:bodyPr/>
          <a:lstStyle/>
          <a:p>
            <a:endParaRPr lang="en-IN"/>
          </a:p>
        </p:txBody>
      </p:sp>
      <p:sp>
        <p:nvSpPr>
          <p:cNvPr id="10" name="Text 8"/>
          <p:cNvSpPr/>
          <p:nvPr/>
        </p:nvSpPr>
        <p:spPr>
          <a:xfrm>
            <a:off x="3337560" y="2240280"/>
            <a:ext cx="2103120" cy="320040"/>
          </a:xfrm>
          <a:prstGeom prst="rect">
            <a:avLst/>
          </a:prstGeom>
          <a:noFill/>
          <a:ln/>
        </p:spPr>
        <p:txBody>
          <a:bodyPr wrap="square" lIns="0" tIns="0" rIns="0" bIns="0" rtlCol="0" anchor="ctr"/>
          <a:lstStyle/>
          <a:p>
            <a:pPr marL="0" indent="0">
              <a:buNone/>
            </a:pPr>
            <a:r>
              <a:rPr lang="en-US" sz="1250" b="1" dirty="0">
                <a:solidFill>
                  <a:srgbClr val="10239E"/>
                </a:solidFill>
                <a:latin typeface="Calibri" pitchFamily="34" charset="0"/>
                <a:ea typeface="Calibri" pitchFamily="34" charset="-122"/>
                <a:cs typeface="Calibri" pitchFamily="34" charset="-120"/>
              </a:rPr>
              <a:t>Base case</a:t>
            </a:r>
            <a:endParaRPr lang="en-US" sz="1250" dirty="0"/>
          </a:p>
        </p:txBody>
      </p:sp>
      <p:sp>
        <p:nvSpPr>
          <p:cNvPr id="11" name="Text 9"/>
          <p:cNvSpPr/>
          <p:nvPr/>
        </p:nvSpPr>
        <p:spPr>
          <a:xfrm>
            <a:off x="3337560" y="2542032"/>
            <a:ext cx="210312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+1.0% conversion</a:t>
            </a:r>
            <a:endParaRPr lang="en-US" sz="1050" dirty="0"/>
          </a:p>
        </p:txBody>
      </p:sp>
      <p:sp>
        <p:nvSpPr>
          <p:cNvPr id="12" name="Text 10"/>
          <p:cNvSpPr/>
          <p:nvPr/>
        </p:nvSpPr>
        <p:spPr>
          <a:xfrm>
            <a:off x="3337560" y="2852928"/>
            <a:ext cx="2103120" cy="548640"/>
          </a:xfrm>
          <a:prstGeom prst="rect">
            <a:avLst/>
          </a:prstGeom>
          <a:noFill/>
          <a:ln/>
        </p:spPr>
        <p:txBody>
          <a:bodyPr wrap="square" lIns="0" tIns="0" rIns="0" bIns="0" rtlCol="0" anchor="ctr"/>
          <a:lstStyle/>
          <a:p>
            <a:pPr marL="0" indent="0">
              <a:buNone/>
            </a:pPr>
            <a:r>
              <a:rPr lang="en-US" sz="2200" b="1" dirty="0">
                <a:solidFill>
                  <a:srgbClr val="2B5CE6"/>
                </a:solidFill>
                <a:latin typeface="Calibri" pitchFamily="34" charset="0"/>
                <a:ea typeface="Calibri" pitchFamily="34" charset="-122"/>
                <a:cs typeface="Calibri" pitchFamily="34" charset="-120"/>
              </a:rPr>
              <a:t>≈ $2.5M</a:t>
            </a:r>
            <a:endParaRPr lang="en-US" sz="2200" dirty="0"/>
          </a:p>
        </p:txBody>
      </p:sp>
      <p:sp>
        <p:nvSpPr>
          <p:cNvPr id="13" name="Shape 11"/>
          <p:cNvSpPr/>
          <p:nvPr/>
        </p:nvSpPr>
        <p:spPr>
          <a:xfrm>
            <a:off x="5760720" y="2148840"/>
            <a:ext cx="2468880" cy="1417320"/>
          </a:xfrm>
          <a:prstGeom prst="rect">
            <a:avLst/>
          </a:prstGeom>
          <a:solidFill>
            <a:srgbClr val="F4F6FB"/>
          </a:solidFill>
          <a:ln/>
        </p:spPr>
        <p:txBody>
          <a:bodyPr/>
          <a:lstStyle/>
          <a:p>
            <a:endParaRPr lang="en-IN"/>
          </a:p>
        </p:txBody>
      </p:sp>
      <p:sp>
        <p:nvSpPr>
          <p:cNvPr id="14" name="Text 12"/>
          <p:cNvSpPr/>
          <p:nvPr/>
        </p:nvSpPr>
        <p:spPr>
          <a:xfrm>
            <a:off x="5943600" y="2240280"/>
            <a:ext cx="2103120" cy="320040"/>
          </a:xfrm>
          <a:prstGeom prst="rect">
            <a:avLst/>
          </a:prstGeom>
          <a:noFill/>
          <a:ln/>
        </p:spPr>
        <p:txBody>
          <a:bodyPr wrap="square" lIns="0" tIns="0" rIns="0" bIns="0" rtlCol="0" anchor="ctr"/>
          <a:lstStyle/>
          <a:p>
            <a:pPr marL="0" indent="0">
              <a:buNone/>
            </a:pPr>
            <a:r>
              <a:rPr lang="en-US" sz="1250" b="1" dirty="0">
                <a:solidFill>
                  <a:srgbClr val="10239E"/>
                </a:solidFill>
                <a:latin typeface="Calibri" pitchFamily="34" charset="0"/>
                <a:ea typeface="Calibri" pitchFamily="34" charset="-122"/>
                <a:cs typeface="Calibri" pitchFamily="34" charset="-120"/>
              </a:rPr>
              <a:t>Optimistic</a:t>
            </a:r>
            <a:endParaRPr lang="en-US" sz="1250" dirty="0"/>
          </a:p>
        </p:txBody>
      </p:sp>
      <p:sp>
        <p:nvSpPr>
          <p:cNvPr id="15" name="Text 13"/>
          <p:cNvSpPr/>
          <p:nvPr/>
        </p:nvSpPr>
        <p:spPr>
          <a:xfrm>
            <a:off x="5943600" y="2542032"/>
            <a:ext cx="210312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+2.0% conversion</a:t>
            </a:r>
            <a:endParaRPr lang="en-US" sz="1050" dirty="0"/>
          </a:p>
        </p:txBody>
      </p:sp>
      <p:sp>
        <p:nvSpPr>
          <p:cNvPr id="16" name="Text 14"/>
          <p:cNvSpPr/>
          <p:nvPr/>
        </p:nvSpPr>
        <p:spPr>
          <a:xfrm>
            <a:off x="5943600" y="2852928"/>
            <a:ext cx="2103120" cy="548640"/>
          </a:xfrm>
          <a:prstGeom prst="rect">
            <a:avLst/>
          </a:prstGeom>
          <a:noFill/>
          <a:ln/>
        </p:spPr>
        <p:txBody>
          <a:bodyPr wrap="square" lIns="0" tIns="0" rIns="0" bIns="0" rtlCol="0" anchor="ctr"/>
          <a:lstStyle/>
          <a:p>
            <a:pPr marL="0" indent="0">
              <a:buNone/>
            </a:pPr>
            <a:r>
              <a:rPr lang="en-US" sz="2200" b="1" dirty="0">
                <a:solidFill>
                  <a:srgbClr val="2B5CE6"/>
                </a:solidFill>
                <a:latin typeface="Calibri" pitchFamily="34" charset="0"/>
                <a:ea typeface="Calibri" pitchFamily="34" charset="-122"/>
                <a:cs typeface="Calibri" pitchFamily="34" charset="-120"/>
              </a:rPr>
              <a:t>≈ $5.1M</a:t>
            </a:r>
            <a:endParaRPr lang="en-US" sz="2200" dirty="0"/>
          </a:p>
        </p:txBody>
      </p:sp>
      <p:sp>
        <p:nvSpPr>
          <p:cNvPr id="17" name="Text 15"/>
          <p:cNvSpPr/>
          <p:nvPr/>
        </p:nvSpPr>
        <p:spPr>
          <a:xfrm>
            <a:off x="8503919" y="2377440"/>
            <a:ext cx="3481251" cy="1005840"/>
          </a:xfrm>
          <a:prstGeom prst="rect">
            <a:avLst/>
          </a:prstGeom>
          <a:noFill/>
          <a:ln/>
        </p:spPr>
        <p:txBody>
          <a:bodyPr wrap="square" lIns="0" tIns="0" rIns="0" bIns="0" rtlCol="0" anchor="ctr"/>
          <a:lstStyle/>
          <a:p>
            <a:pPr marL="0" indent="0">
              <a:lnSpc>
                <a:spcPct val="120000"/>
              </a:lnSpc>
              <a:buNone/>
            </a:pPr>
            <a:r>
              <a:rPr lang="en-US" sz="1200" b="1" dirty="0">
                <a:solidFill>
                  <a:srgbClr val="1C2233"/>
                </a:solidFill>
                <a:latin typeface="Calibri" pitchFamily="34" charset="0"/>
                <a:ea typeface="Calibri" pitchFamily="34" charset="-122"/>
                <a:cs typeface="Calibri" pitchFamily="34" charset="-120"/>
              </a:rPr>
              <a:t>per 1M eligible sessions</a:t>
            </a:r>
            <a:endParaRPr lang="en-US" sz="1200" dirty="0"/>
          </a:p>
          <a:p>
            <a:pPr>
              <a:lnSpc>
                <a:spcPct val="120000"/>
              </a:lnSpc>
            </a:pPr>
            <a:r>
              <a:rPr lang="en-US" sz="1200" dirty="0">
                <a:solidFill>
                  <a:srgbClr val="64748B"/>
                </a:solidFill>
                <a:latin typeface="Calibri" pitchFamily="34" charset="0"/>
                <a:ea typeface="Calibri" pitchFamily="34" charset="-122"/>
                <a:cs typeface="Calibri" pitchFamily="34" charset="-120"/>
              </a:rPr>
              <a:t>avg booking value ≈ $252 (</a:t>
            </a:r>
            <a:r>
              <a:rPr lang="en-IN" sz="1200" dirty="0">
                <a:solidFill>
                  <a:srgbClr val="64748B"/>
                </a:solidFill>
                <a:latin typeface="Calibri" pitchFamily="34" charset="0"/>
                <a:ea typeface="Calibri" pitchFamily="34" charset="-122"/>
                <a:cs typeface="Calibri" pitchFamily="34" charset="-120"/>
              </a:rPr>
              <a:t>mean ADR $148 × LOS 1.7</a:t>
            </a:r>
            <a:r>
              <a:rPr lang="en-US" sz="1200" dirty="0">
                <a:solidFill>
                  <a:srgbClr val="64748B"/>
                </a:solidFill>
                <a:latin typeface="Calibri" pitchFamily="34" charset="0"/>
                <a:ea typeface="Calibri" pitchFamily="34" charset="-122"/>
                <a:cs typeface="Calibri" pitchFamily="34" charset="-120"/>
              </a:rPr>
              <a:t>)</a:t>
            </a:r>
          </a:p>
        </p:txBody>
      </p:sp>
      <p:sp>
        <p:nvSpPr>
          <p:cNvPr id="18" name="Text 16"/>
          <p:cNvSpPr/>
          <p:nvPr/>
        </p:nvSpPr>
        <p:spPr>
          <a:xfrm>
            <a:off x="548640" y="3886200"/>
            <a:ext cx="10972800" cy="365760"/>
          </a:xfrm>
          <a:prstGeom prst="rect">
            <a:avLst/>
          </a:prstGeom>
          <a:noFill/>
          <a:ln/>
        </p:spPr>
        <p:txBody>
          <a:bodyPr wrap="square" lIns="0" tIns="0" rIns="0" bIns="0" rtlCol="0" anchor="ctr"/>
          <a:lstStyle/>
          <a:p>
            <a:pPr marL="0" indent="0">
              <a:buNone/>
            </a:pPr>
            <a:r>
              <a:rPr lang="en-US" sz="1600" b="1" dirty="0">
                <a:solidFill>
                  <a:srgbClr val="1C2233"/>
                </a:solidFill>
                <a:latin typeface="Calibri" pitchFamily="34" charset="0"/>
                <a:ea typeface="Calibri" pitchFamily="34" charset="-122"/>
                <a:cs typeface="Calibri" pitchFamily="34" charset="-120"/>
              </a:rPr>
              <a:t>How I'd validate before scaling</a:t>
            </a:r>
            <a:endParaRPr lang="en-US" sz="1600" dirty="0"/>
          </a:p>
        </p:txBody>
      </p:sp>
      <p:sp>
        <p:nvSpPr>
          <p:cNvPr id="19" name="Shape 17"/>
          <p:cNvSpPr/>
          <p:nvPr/>
        </p:nvSpPr>
        <p:spPr>
          <a:xfrm>
            <a:off x="548640" y="4389120"/>
            <a:ext cx="2715768" cy="1783080"/>
          </a:xfrm>
          <a:prstGeom prst="rect">
            <a:avLst/>
          </a:prstGeom>
          <a:solidFill>
            <a:srgbClr val="FFFFFF"/>
          </a:solidFill>
          <a:ln w="12700">
            <a:solidFill>
              <a:srgbClr val="DCE4F2"/>
            </a:solidFill>
            <a:prstDash val="solid"/>
          </a:ln>
          <a:effectLst>
            <a:outerShdw blurRad="114300" dist="38100" dir="8100000" algn="bl" rotWithShape="0">
              <a:srgbClr val="7A8AA8">
                <a:alpha val="22000"/>
              </a:srgbClr>
            </a:outerShdw>
          </a:effectLst>
        </p:spPr>
        <p:txBody>
          <a:bodyPr/>
          <a:lstStyle/>
          <a:p>
            <a:endParaRPr lang="en-IN"/>
          </a:p>
        </p:txBody>
      </p:sp>
      <p:sp>
        <p:nvSpPr>
          <p:cNvPr id="20" name="Shape 18"/>
          <p:cNvSpPr/>
          <p:nvPr/>
        </p:nvSpPr>
        <p:spPr>
          <a:xfrm>
            <a:off x="777240" y="4617720"/>
            <a:ext cx="548640" cy="548640"/>
          </a:xfrm>
          <a:prstGeom prst="ellipse">
            <a:avLst/>
          </a:prstGeom>
          <a:solidFill>
            <a:srgbClr val="EAF0FB"/>
          </a:solidFill>
          <a:ln/>
        </p:spPr>
        <p:txBody>
          <a:bodyPr/>
          <a:lstStyle/>
          <a:p>
            <a:endParaRPr lang="en-IN"/>
          </a:p>
        </p:txBody>
      </p:sp>
      <p:pic>
        <p:nvPicPr>
          <p:cNvPr id="21" name="Image 0" descr="preencoded.png"/>
          <p:cNvPicPr>
            <a:picLocks noChangeAspect="1"/>
          </p:cNvPicPr>
          <p:nvPr/>
        </p:nvPicPr>
        <p:blipFill>
          <a:blip r:embed="rId3"/>
          <a:stretch>
            <a:fillRect/>
          </a:stretch>
        </p:blipFill>
        <p:spPr>
          <a:xfrm>
            <a:off x="905256" y="4745736"/>
            <a:ext cx="292608" cy="292608"/>
          </a:xfrm>
          <a:prstGeom prst="rect">
            <a:avLst/>
          </a:prstGeom>
        </p:spPr>
      </p:pic>
      <p:sp>
        <p:nvSpPr>
          <p:cNvPr id="22" name="Text 19"/>
          <p:cNvSpPr/>
          <p:nvPr/>
        </p:nvSpPr>
        <p:spPr>
          <a:xfrm>
            <a:off x="1463040" y="4645152"/>
            <a:ext cx="1691640" cy="502920"/>
          </a:xfrm>
          <a:prstGeom prst="rect">
            <a:avLst/>
          </a:prstGeom>
          <a:noFill/>
          <a:ln/>
        </p:spPr>
        <p:txBody>
          <a:bodyPr wrap="square" lIns="0" tIns="0" rIns="0" bIns="0" rtlCol="0" anchor="ctr"/>
          <a:lstStyle/>
          <a:p>
            <a:pPr marL="0" indent="0">
              <a:buNone/>
            </a:pPr>
            <a:r>
              <a:rPr lang="en-US" sz="1400" b="1" dirty="0">
                <a:solidFill>
                  <a:srgbClr val="1C2233"/>
                </a:solidFill>
                <a:latin typeface="Calibri" pitchFamily="34" charset="0"/>
                <a:ea typeface="Calibri" pitchFamily="34" charset="-122"/>
                <a:cs typeface="Calibri" pitchFamily="34" charset="-120"/>
              </a:rPr>
              <a:t>A/B test</a:t>
            </a:r>
            <a:endParaRPr lang="en-US" sz="1400" dirty="0"/>
          </a:p>
        </p:txBody>
      </p:sp>
      <p:sp>
        <p:nvSpPr>
          <p:cNvPr id="23" name="Text 20"/>
          <p:cNvSpPr/>
          <p:nvPr/>
        </p:nvSpPr>
        <p:spPr>
          <a:xfrm>
            <a:off x="795528" y="5257800"/>
            <a:ext cx="2286000" cy="822960"/>
          </a:xfrm>
          <a:prstGeom prst="rect">
            <a:avLst/>
          </a:prstGeom>
          <a:noFill/>
          <a:ln/>
        </p:spPr>
        <p:txBody>
          <a:bodyPr wrap="square" lIns="0" tIns="0" rIns="0" bIns="0" rtlCol="0" anchor="ctr"/>
          <a:lstStyle/>
          <a:p>
            <a:pPr marL="0" indent="0">
              <a:lnSpc>
                <a:spcPct val="105000"/>
              </a:lnSpc>
              <a:buNone/>
            </a:pPr>
            <a:r>
              <a:rPr lang="en-US" sz="1100" dirty="0">
                <a:solidFill>
                  <a:srgbClr val="64748B"/>
                </a:solidFill>
                <a:latin typeface="Calibri" pitchFamily="34" charset="0"/>
                <a:ea typeface="Calibri" pitchFamily="34" charset="-122"/>
                <a:cs typeface="Calibri" pitchFamily="34" charset="-120"/>
              </a:rPr>
              <a:t>Property-page split: scarcity vs price-rise vs control. Primary metric = conversion.</a:t>
            </a:r>
            <a:endParaRPr lang="en-US" sz="1100" dirty="0"/>
          </a:p>
        </p:txBody>
      </p:sp>
      <p:sp>
        <p:nvSpPr>
          <p:cNvPr id="24" name="Shape 21"/>
          <p:cNvSpPr/>
          <p:nvPr/>
        </p:nvSpPr>
        <p:spPr>
          <a:xfrm>
            <a:off x="3337560" y="4389120"/>
            <a:ext cx="2715768" cy="1783080"/>
          </a:xfrm>
          <a:prstGeom prst="rect">
            <a:avLst/>
          </a:prstGeom>
          <a:solidFill>
            <a:srgbClr val="FFFFFF"/>
          </a:solidFill>
          <a:ln w="12700">
            <a:solidFill>
              <a:srgbClr val="DCE4F2"/>
            </a:solidFill>
            <a:prstDash val="solid"/>
          </a:ln>
          <a:effectLst>
            <a:outerShdw blurRad="114300" dist="38100" dir="8100000" algn="bl" rotWithShape="0">
              <a:srgbClr val="7A8AA8">
                <a:alpha val="22000"/>
              </a:srgbClr>
            </a:outerShdw>
          </a:effectLst>
        </p:spPr>
        <p:txBody>
          <a:bodyPr/>
          <a:lstStyle/>
          <a:p>
            <a:endParaRPr lang="en-IN"/>
          </a:p>
        </p:txBody>
      </p:sp>
      <p:sp>
        <p:nvSpPr>
          <p:cNvPr id="25" name="Shape 22"/>
          <p:cNvSpPr/>
          <p:nvPr/>
        </p:nvSpPr>
        <p:spPr>
          <a:xfrm>
            <a:off x="3566160" y="4617720"/>
            <a:ext cx="548640" cy="548640"/>
          </a:xfrm>
          <a:prstGeom prst="ellipse">
            <a:avLst/>
          </a:prstGeom>
          <a:solidFill>
            <a:srgbClr val="EAF0FB"/>
          </a:solidFill>
          <a:ln/>
        </p:spPr>
        <p:txBody>
          <a:bodyPr/>
          <a:lstStyle/>
          <a:p>
            <a:endParaRPr lang="en-IN"/>
          </a:p>
        </p:txBody>
      </p:sp>
      <p:pic>
        <p:nvPicPr>
          <p:cNvPr id="26" name="Image 1" descr="preencoded.png"/>
          <p:cNvPicPr>
            <a:picLocks noChangeAspect="1"/>
          </p:cNvPicPr>
          <p:nvPr/>
        </p:nvPicPr>
        <p:blipFill>
          <a:blip r:embed="rId4"/>
          <a:stretch>
            <a:fillRect/>
          </a:stretch>
        </p:blipFill>
        <p:spPr>
          <a:xfrm>
            <a:off x="3694176" y="4745736"/>
            <a:ext cx="292608" cy="292608"/>
          </a:xfrm>
          <a:prstGeom prst="rect">
            <a:avLst/>
          </a:prstGeom>
        </p:spPr>
      </p:pic>
      <p:sp>
        <p:nvSpPr>
          <p:cNvPr id="27" name="Text 23"/>
          <p:cNvSpPr/>
          <p:nvPr/>
        </p:nvSpPr>
        <p:spPr>
          <a:xfrm>
            <a:off x="4251960" y="4645152"/>
            <a:ext cx="1691640" cy="502920"/>
          </a:xfrm>
          <a:prstGeom prst="rect">
            <a:avLst/>
          </a:prstGeom>
          <a:noFill/>
          <a:ln/>
        </p:spPr>
        <p:txBody>
          <a:bodyPr wrap="square" lIns="0" tIns="0" rIns="0" bIns="0" rtlCol="0" anchor="ctr"/>
          <a:lstStyle/>
          <a:p>
            <a:pPr marL="0" indent="0">
              <a:buNone/>
            </a:pPr>
            <a:r>
              <a:rPr lang="en-US" sz="1400" b="1" dirty="0">
                <a:solidFill>
                  <a:srgbClr val="1C2233"/>
                </a:solidFill>
                <a:latin typeface="Calibri" pitchFamily="34" charset="0"/>
                <a:ea typeface="Calibri" pitchFamily="34" charset="-122"/>
                <a:cs typeface="Calibri" pitchFamily="34" charset="-120"/>
              </a:rPr>
              <a:t>Guardrails</a:t>
            </a:r>
            <a:endParaRPr lang="en-US" sz="1400" dirty="0"/>
          </a:p>
        </p:txBody>
      </p:sp>
      <p:sp>
        <p:nvSpPr>
          <p:cNvPr id="28" name="Text 24"/>
          <p:cNvSpPr/>
          <p:nvPr/>
        </p:nvSpPr>
        <p:spPr>
          <a:xfrm>
            <a:off x="3584448" y="5257800"/>
            <a:ext cx="2286000" cy="822960"/>
          </a:xfrm>
          <a:prstGeom prst="rect">
            <a:avLst/>
          </a:prstGeom>
          <a:noFill/>
          <a:ln/>
        </p:spPr>
        <p:txBody>
          <a:bodyPr wrap="square" lIns="0" tIns="0" rIns="0" bIns="0" rtlCol="0" anchor="ctr"/>
          <a:lstStyle/>
          <a:p>
            <a:pPr marL="0" indent="0">
              <a:lnSpc>
                <a:spcPct val="105000"/>
              </a:lnSpc>
              <a:buNone/>
            </a:pPr>
            <a:r>
              <a:rPr lang="en-US" sz="1100" dirty="0">
                <a:solidFill>
                  <a:srgbClr val="64748B"/>
                </a:solidFill>
                <a:latin typeface="Calibri" pitchFamily="34" charset="0"/>
                <a:ea typeface="Calibri" pitchFamily="34" charset="-122"/>
                <a:cs typeface="Calibri" pitchFamily="34" charset="-120"/>
              </a:rPr>
              <a:t>Track cancellations, refunds, NPS. Auto-kill if trust metrics regress.</a:t>
            </a:r>
            <a:endParaRPr lang="en-US" sz="1100" dirty="0"/>
          </a:p>
        </p:txBody>
      </p:sp>
      <p:sp>
        <p:nvSpPr>
          <p:cNvPr id="29" name="Shape 25"/>
          <p:cNvSpPr/>
          <p:nvPr/>
        </p:nvSpPr>
        <p:spPr>
          <a:xfrm>
            <a:off x="6126480" y="4389120"/>
            <a:ext cx="2715768" cy="1783080"/>
          </a:xfrm>
          <a:prstGeom prst="rect">
            <a:avLst/>
          </a:prstGeom>
          <a:solidFill>
            <a:srgbClr val="FFFFFF"/>
          </a:solidFill>
          <a:ln w="12700">
            <a:solidFill>
              <a:srgbClr val="DCE4F2"/>
            </a:solidFill>
            <a:prstDash val="solid"/>
          </a:ln>
          <a:effectLst>
            <a:outerShdw blurRad="114300" dist="38100" dir="8100000" algn="bl" rotWithShape="0">
              <a:srgbClr val="7A8AA8">
                <a:alpha val="22000"/>
              </a:srgbClr>
            </a:outerShdw>
          </a:effectLst>
        </p:spPr>
        <p:txBody>
          <a:bodyPr/>
          <a:lstStyle/>
          <a:p>
            <a:endParaRPr lang="en-IN"/>
          </a:p>
        </p:txBody>
      </p:sp>
      <p:sp>
        <p:nvSpPr>
          <p:cNvPr id="30" name="Shape 26"/>
          <p:cNvSpPr/>
          <p:nvPr/>
        </p:nvSpPr>
        <p:spPr>
          <a:xfrm>
            <a:off x="6355080" y="4617720"/>
            <a:ext cx="548640" cy="548640"/>
          </a:xfrm>
          <a:prstGeom prst="ellipse">
            <a:avLst/>
          </a:prstGeom>
          <a:solidFill>
            <a:srgbClr val="EAF0FB"/>
          </a:solidFill>
          <a:ln/>
        </p:spPr>
        <p:txBody>
          <a:bodyPr/>
          <a:lstStyle/>
          <a:p>
            <a:endParaRPr lang="en-IN"/>
          </a:p>
        </p:txBody>
      </p:sp>
      <p:pic>
        <p:nvPicPr>
          <p:cNvPr id="31" name="Image 2" descr="preencoded.png"/>
          <p:cNvPicPr>
            <a:picLocks noChangeAspect="1"/>
          </p:cNvPicPr>
          <p:nvPr/>
        </p:nvPicPr>
        <p:blipFill>
          <a:blip r:embed="rId5"/>
          <a:stretch>
            <a:fillRect/>
          </a:stretch>
        </p:blipFill>
        <p:spPr>
          <a:xfrm>
            <a:off x="6483096" y="4745736"/>
            <a:ext cx="292608" cy="292608"/>
          </a:xfrm>
          <a:prstGeom prst="rect">
            <a:avLst/>
          </a:prstGeom>
        </p:spPr>
      </p:pic>
      <p:sp>
        <p:nvSpPr>
          <p:cNvPr id="32" name="Text 27"/>
          <p:cNvSpPr/>
          <p:nvPr/>
        </p:nvSpPr>
        <p:spPr>
          <a:xfrm>
            <a:off x="7040880" y="4645152"/>
            <a:ext cx="1691640" cy="502920"/>
          </a:xfrm>
          <a:prstGeom prst="rect">
            <a:avLst/>
          </a:prstGeom>
          <a:noFill/>
          <a:ln/>
        </p:spPr>
        <p:txBody>
          <a:bodyPr wrap="square" lIns="0" tIns="0" rIns="0" bIns="0" rtlCol="0" anchor="ctr"/>
          <a:lstStyle/>
          <a:p>
            <a:pPr marL="0" indent="0">
              <a:buNone/>
            </a:pPr>
            <a:r>
              <a:rPr lang="en-US" sz="1400" b="1" dirty="0">
                <a:solidFill>
                  <a:srgbClr val="1C2233"/>
                </a:solidFill>
                <a:latin typeface="Calibri" pitchFamily="34" charset="0"/>
                <a:ea typeface="Calibri" pitchFamily="34" charset="-122"/>
                <a:cs typeface="Calibri" pitchFamily="34" charset="-120"/>
              </a:rPr>
              <a:t>Truth audit</a:t>
            </a:r>
            <a:endParaRPr lang="en-US" sz="1400" dirty="0"/>
          </a:p>
        </p:txBody>
      </p:sp>
      <p:sp>
        <p:nvSpPr>
          <p:cNvPr id="33" name="Text 28"/>
          <p:cNvSpPr/>
          <p:nvPr/>
        </p:nvSpPr>
        <p:spPr>
          <a:xfrm>
            <a:off x="6373368" y="5257800"/>
            <a:ext cx="2286000" cy="822960"/>
          </a:xfrm>
          <a:prstGeom prst="rect">
            <a:avLst/>
          </a:prstGeom>
          <a:noFill/>
          <a:ln/>
        </p:spPr>
        <p:txBody>
          <a:bodyPr wrap="square" lIns="0" tIns="0" rIns="0" bIns="0" rtlCol="0" anchor="ctr"/>
          <a:lstStyle/>
          <a:p>
            <a:pPr marL="0" indent="0">
              <a:lnSpc>
                <a:spcPct val="105000"/>
              </a:lnSpc>
              <a:buNone/>
            </a:pPr>
            <a:r>
              <a:rPr lang="en-US" sz="1100" dirty="0">
                <a:solidFill>
                  <a:srgbClr val="64748B"/>
                </a:solidFill>
                <a:latin typeface="Calibri" pitchFamily="34" charset="0"/>
                <a:ea typeface="Calibri" pitchFamily="34" charset="-122"/>
                <a:cs typeface="Calibri" pitchFamily="34" charset="-120"/>
              </a:rPr>
              <a:t>Fire the price-rise claim only where it proves ≥70% accurate.</a:t>
            </a:r>
            <a:endParaRPr lang="en-US" sz="1100" dirty="0"/>
          </a:p>
        </p:txBody>
      </p:sp>
      <p:sp>
        <p:nvSpPr>
          <p:cNvPr id="34" name="Shape 29"/>
          <p:cNvSpPr/>
          <p:nvPr/>
        </p:nvSpPr>
        <p:spPr>
          <a:xfrm>
            <a:off x="8915400" y="4389120"/>
            <a:ext cx="2715768" cy="1783080"/>
          </a:xfrm>
          <a:prstGeom prst="rect">
            <a:avLst/>
          </a:prstGeom>
          <a:solidFill>
            <a:srgbClr val="FFFFFF"/>
          </a:solidFill>
          <a:ln w="12700">
            <a:solidFill>
              <a:srgbClr val="DCE4F2"/>
            </a:solidFill>
            <a:prstDash val="solid"/>
          </a:ln>
          <a:effectLst>
            <a:outerShdw blurRad="114300" dist="38100" dir="8100000" algn="bl" rotWithShape="0">
              <a:srgbClr val="7A8AA8">
                <a:alpha val="22000"/>
              </a:srgbClr>
            </a:outerShdw>
          </a:effectLst>
        </p:spPr>
        <p:txBody>
          <a:bodyPr/>
          <a:lstStyle/>
          <a:p>
            <a:endParaRPr lang="en-IN"/>
          </a:p>
        </p:txBody>
      </p:sp>
      <p:sp>
        <p:nvSpPr>
          <p:cNvPr id="35" name="Shape 30"/>
          <p:cNvSpPr/>
          <p:nvPr/>
        </p:nvSpPr>
        <p:spPr>
          <a:xfrm>
            <a:off x="9144000" y="4617720"/>
            <a:ext cx="548640" cy="548640"/>
          </a:xfrm>
          <a:prstGeom prst="ellipse">
            <a:avLst/>
          </a:prstGeom>
          <a:solidFill>
            <a:srgbClr val="EAF0FB"/>
          </a:solidFill>
          <a:ln/>
        </p:spPr>
        <p:txBody>
          <a:bodyPr/>
          <a:lstStyle/>
          <a:p>
            <a:endParaRPr lang="en-IN"/>
          </a:p>
        </p:txBody>
      </p:sp>
      <p:pic>
        <p:nvPicPr>
          <p:cNvPr id="36" name="Image 3" descr="preencoded.png"/>
          <p:cNvPicPr>
            <a:picLocks noChangeAspect="1"/>
          </p:cNvPicPr>
          <p:nvPr/>
        </p:nvPicPr>
        <p:blipFill>
          <a:blip r:embed="rId6"/>
          <a:stretch>
            <a:fillRect/>
          </a:stretch>
        </p:blipFill>
        <p:spPr>
          <a:xfrm>
            <a:off x="9272016" y="4745736"/>
            <a:ext cx="292608" cy="292608"/>
          </a:xfrm>
          <a:prstGeom prst="rect">
            <a:avLst/>
          </a:prstGeom>
        </p:spPr>
      </p:pic>
      <p:sp>
        <p:nvSpPr>
          <p:cNvPr id="37" name="Text 31"/>
          <p:cNvSpPr/>
          <p:nvPr/>
        </p:nvSpPr>
        <p:spPr>
          <a:xfrm>
            <a:off x="9829800" y="4645152"/>
            <a:ext cx="1691640" cy="502920"/>
          </a:xfrm>
          <a:prstGeom prst="rect">
            <a:avLst/>
          </a:prstGeom>
          <a:noFill/>
          <a:ln/>
        </p:spPr>
        <p:txBody>
          <a:bodyPr wrap="square" lIns="0" tIns="0" rIns="0" bIns="0" rtlCol="0" anchor="ctr"/>
          <a:lstStyle/>
          <a:p>
            <a:pPr marL="0" indent="0">
              <a:buNone/>
            </a:pPr>
            <a:r>
              <a:rPr lang="en-US" sz="1400" b="1" dirty="0">
                <a:solidFill>
                  <a:srgbClr val="1C2233"/>
                </a:solidFill>
                <a:latin typeface="Calibri" pitchFamily="34" charset="0"/>
                <a:ea typeface="Calibri" pitchFamily="34" charset="-122"/>
                <a:cs typeface="Calibri" pitchFamily="34" charset="-120"/>
              </a:rPr>
              <a:t>Backtest</a:t>
            </a:r>
            <a:endParaRPr lang="en-US" sz="1400" dirty="0"/>
          </a:p>
        </p:txBody>
      </p:sp>
      <p:sp>
        <p:nvSpPr>
          <p:cNvPr id="38" name="Text 32"/>
          <p:cNvSpPr/>
          <p:nvPr/>
        </p:nvSpPr>
        <p:spPr>
          <a:xfrm>
            <a:off x="9162288" y="5257800"/>
            <a:ext cx="2286000" cy="822960"/>
          </a:xfrm>
          <a:prstGeom prst="rect">
            <a:avLst/>
          </a:prstGeom>
          <a:noFill/>
          <a:ln/>
        </p:spPr>
        <p:txBody>
          <a:bodyPr wrap="square" lIns="0" tIns="0" rIns="0" bIns="0" rtlCol="0" anchor="ctr"/>
          <a:lstStyle/>
          <a:p>
            <a:pPr marL="0" indent="0">
              <a:lnSpc>
                <a:spcPct val="105000"/>
              </a:lnSpc>
              <a:buNone/>
            </a:pPr>
            <a:r>
              <a:rPr lang="en-US" sz="1100" dirty="0">
                <a:solidFill>
                  <a:srgbClr val="64748B"/>
                </a:solidFill>
                <a:latin typeface="Calibri" pitchFamily="34" charset="0"/>
                <a:ea typeface="Calibri" pitchFamily="34" charset="-122"/>
                <a:cs typeface="Calibri" pitchFamily="34" charset="-120"/>
              </a:rPr>
              <a:t>Re-check segment targeting on a fresh quarter before widening.</a:t>
            </a:r>
            <a:endParaRPr lang="en-US" sz="1100" dirty="0"/>
          </a:p>
        </p:txBody>
      </p:sp>
      <p:pic>
        <p:nvPicPr>
          <p:cNvPr id="39" name="Picture 38">
            <a:extLst>
              <a:ext uri="{FF2B5EF4-FFF2-40B4-BE49-F238E27FC236}">
                <a16:creationId xmlns:a16="http://schemas.microsoft.com/office/drawing/2014/main" id="{C3FBFFE6-F9EB-A973-B42D-60835DBB6304}"/>
              </a:ext>
            </a:extLst>
          </p:cNvPr>
          <p:cNvPicPr>
            <a:picLocks noChangeAspect="1"/>
          </p:cNvPicPr>
          <p:nvPr/>
        </p:nvPicPr>
        <p:blipFill>
          <a:blip r:embed="rId7"/>
          <a:stretch>
            <a:fillRect/>
          </a:stretch>
        </p:blipFill>
        <p:spPr>
          <a:xfrm>
            <a:off x="10813872" y="-44952"/>
            <a:ext cx="1376825" cy="9031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marL="0" indent="0">
              <a:buNone/>
            </a:pPr>
            <a:r>
              <a:rPr lang="en-US" sz="1200" b="1" kern="0" spc="200" dirty="0">
                <a:solidFill>
                  <a:srgbClr val="2B5CE6"/>
                </a:solidFill>
                <a:latin typeface="Calibri" pitchFamily="34" charset="0"/>
                <a:ea typeface="Calibri" pitchFamily="34" charset="-122"/>
                <a:cs typeface="Calibri" pitchFamily="34" charset="-120"/>
              </a:rPr>
              <a:t>11  ·  RIGOUR &amp; CANDOUR</a:t>
            </a:r>
            <a:endParaRPr lang="en-US" sz="12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C2233"/>
                </a:solidFill>
                <a:latin typeface="Calibri" pitchFamily="34" charset="0"/>
                <a:ea typeface="Calibri" pitchFamily="34" charset="-122"/>
                <a:cs typeface="Calibri" pitchFamily="34" charset="-120"/>
              </a:rPr>
              <a:t>Assumptions, limitations &amp; what's next</a:t>
            </a:r>
            <a:endParaRPr lang="en-US" sz="3200" dirty="0"/>
          </a:p>
        </p:txBody>
      </p:sp>
      <p:sp>
        <p:nvSpPr>
          <p:cNvPr id="4" name="Text 2"/>
          <p:cNvSpPr/>
          <p:nvPr/>
        </p:nvSpPr>
        <p:spPr>
          <a:xfrm>
            <a:off x="566928" y="1508760"/>
            <a:ext cx="11064240" cy="457200"/>
          </a:xfrm>
          <a:prstGeom prst="rect">
            <a:avLst/>
          </a:prstGeom>
          <a:noFill/>
          <a:ln/>
        </p:spPr>
        <p:txBody>
          <a:bodyPr wrap="square" lIns="0" tIns="0" rIns="0" bIns="0" rtlCol="0" anchor="ctr"/>
          <a:lstStyle/>
          <a:p>
            <a:pPr marL="0" indent="0">
              <a:buNone/>
            </a:pPr>
            <a:r>
              <a:rPr lang="en-US" sz="1500" i="1" dirty="0">
                <a:solidFill>
                  <a:srgbClr val="2B5CE6"/>
                </a:solidFill>
                <a:latin typeface="Calibri Light" pitchFamily="34" charset="0"/>
                <a:ea typeface="Calibri Light" pitchFamily="34" charset="-122"/>
                <a:cs typeface="Calibri Light" pitchFamily="34" charset="-120"/>
              </a:rPr>
              <a:t>Stated up front : every conclusion rests on these, and each is testable.</a:t>
            </a:r>
            <a:endParaRPr lang="en-US" sz="1500" dirty="0"/>
          </a:p>
        </p:txBody>
      </p:sp>
      <p:sp>
        <p:nvSpPr>
          <p:cNvPr id="5" name="Shape 3"/>
          <p:cNvSpPr/>
          <p:nvPr/>
        </p:nvSpPr>
        <p:spPr>
          <a:xfrm>
            <a:off x="548640" y="2103120"/>
            <a:ext cx="3611880" cy="4023360"/>
          </a:xfrm>
          <a:prstGeom prst="rect">
            <a:avLst/>
          </a:prstGeom>
          <a:solidFill>
            <a:srgbClr val="F4F6FB"/>
          </a:solidFill>
          <a:ln/>
        </p:spPr>
        <p:txBody>
          <a:bodyPr/>
          <a:lstStyle/>
          <a:p>
            <a:endParaRPr lang="en-IN"/>
          </a:p>
        </p:txBody>
      </p:sp>
      <p:sp>
        <p:nvSpPr>
          <p:cNvPr id="6" name="Shape 4"/>
          <p:cNvSpPr/>
          <p:nvPr/>
        </p:nvSpPr>
        <p:spPr>
          <a:xfrm>
            <a:off x="548640" y="2103120"/>
            <a:ext cx="3611880" cy="457200"/>
          </a:xfrm>
          <a:prstGeom prst="rect">
            <a:avLst/>
          </a:prstGeom>
          <a:solidFill>
            <a:srgbClr val="2B5CE6"/>
          </a:solidFill>
          <a:ln/>
        </p:spPr>
        <p:txBody>
          <a:bodyPr/>
          <a:lstStyle/>
          <a:p>
            <a:endParaRPr lang="en-IN"/>
          </a:p>
        </p:txBody>
      </p:sp>
      <p:sp>
        <p:nvSpPr>
          <p:cNvPr id="7" name="Text 5"/>
          <p:cNvSpPr/>
          <p:nvPr/>
        </p:nvSpPr>
        <p:spPr>
          <a:xfrm>
            <a:off x="731520" y="2148840"/>
            <a:ext cx="324612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Assumptions I made</a:t>
            </a:r>
            <a:endParaRPr lang="en-US" sz="1350" dirty="0"/>
          </a:p>
        </p:txBody>
      </p:sp>
      <p:sp>
        <p:nvSpPr>
          <p:cNvPr id="8" name="Text 6"/>
          <p:cNvSpPr/>
          <p:nvPr/>
        </p:nvSpPr>
        <p:spPr>
          <a:xfrm>
            <a:off x="777240" y="2697480"/>
            <a:ext cx="3154680" cy="3291840"/>
          </a:xfrm>
          <a:prstGeom prst="rect">
            <a:avLst/>
          </a:prstGeom>
          <a:noFill/>
          <a:ln/>
        </p:spPr>
        <p:txBody>
          <a:bodyPr wrap="square" lIns="0" tIns="0" rIns="0" bIns="0" rtlCol="0" anchor="t"/>
          <a:lstStyle/>
          <a:p>
            <a:pPr marL="177800" indent="-177800">
              <a:lnSpc>
                <a:spcPct val="105000"/>
              </a:lnSpc>
              <a:spcAft>
                <a:spcPts val="900"/>
              </a:spcAft>
              <a:buSzPct val="100000"/>
              <a:buFontTx/>
              <a:buChar char="•"/>
            </a:pPr>
            <a:r>
              <a:rPr lang="en-US" sz="1150" b="1" dirty="0">
                <a:solidFill>
                  <a:srgbClr val="1C2233"/>
                </a:solidFill>
                <a:latin typeface="Calibri" pitchFamily="34" charset="0"/>
                <a:ea typeface="Calibri" pitchFamily="34" charset="-122"/>
                <a:cs typeface="Calibri" pitchFamily="34" charset="-120"/>
              </a:rPr>
              <a:t>Fri &amp; Sat </a:t>
            </a:r>
            <a:r>
              <a:rPr lang="en-US" sz="1150" dirty="0">
                <a:solidFill>
                  <a:srgbClr val="1C2233"/>
                </a:solidFill>
                <a:latin typeface="Calibri" pitchFamily="34" charset="0"/>
                <a:ea typeface="Calibri" pitchFamily="34" charset="-122"/>
                <a:cs typeface="Calibri" pitchFamily="34" charset="-120"/>
              </a:rPr>
              <a:t>are considered as weekend days due to price increase.</a:t>
            </a:r>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ADR is a fair proxy for the price a shopper saw.</a:t>
            </a:r>
            <a:endParaRPr lang="en-US" sz="1150" dirty="0"/>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Bookings imply the room was available at that price and time.</a:t>
            </a:r>
            <a:endParaRPr lang="en-US" sz="1150" dirty="0"/>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Within a hotel+date, room-nights are comparable enough to compare.</a:t>
            </a:r>
            <a:endParaRPr lang="en-US" sz="1150" dirty="0"/>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An urgency nudge can measurably shift conversion.</a:t>
            </a:r>
          </a:p>
        </p:txBody>
      </p:sp>
      <p:sp>
        <p:nvSpPr>
          <p:cNvPr id="9" name="Shape 7"/>
          <p:cNvSpPr/>
          <p:nvPr/>
        </p:nvSpPr>
        <p:spPr>
          <a:xfrm>
            <a:off x="4251960" y="2103120"/>
            <a:ext cx="3611880" cy="4023360"/>
          </a:xfrm>
          <a:prstGeom prst="rect">
            <a:avLst/>
          </a:prstGeom>
          <a:solidFill>
            <a:srgbClr val="F4F6FB"/>
          </a:solidFill>
          <a:ln/>
        </p:spPr>
        <p:txBody>
          <a:bodyPr/>
          <a:lstStyle/>
          <a:p>
            <a:endParaRPr lang="en-IN"/>
          </a:p>
        </p:txBody>
      </p:sp>
      <p:sp>
        <p:nvSpPr>
          <p:cNvPr id="10" name="Shape 8"/>
          <p:cNvSpPr/>
          <p:nvPr/>
        </p:nvSpPr>
        <p:spPr>
          <a:xfrm>
            <a:off x="4251960" y="2103120"/>
            <a:ext cx="3611880" cy="457200"/>
          </a:xfrm>
          <a:prstGeom prst="rect">
            <a:avLst/>
          </a:prstGeom>
          <a:solidFill>
            <a:srgbClr val="E5326E"/>
          </a:solidFill>
          <a:ln/>
        </p:spPr>
        <p:txBody>
          <a:bodyPr/>
          <a:lstStyle/>
          <a:p>
            <a:endParaRPr lang="en-IN"/>
          </a:p>
        </p:txBody>
      </p:sp>
      <p:sp>
        <p:nvSpPr>
          <p:cNvPr id="11" name="Text 9"/>
          <p:cNvSpPr/>
          <p:nvPr/>
        </p:nvSpPr>
        <p:spPr>
          <a:xfrm>
            <a:off x="4434840" y="2148840"/>
            <a:ext cx="324612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Limitations of the data</a:t>
            </a:r>
            <a:endParaRPr lang="en-US" sz="1350" dirty="0"/>
          </a:p>
        </p:txBody>
      </p:sp>
      <p:sp>
        <p:nvSpPr>
          <p:cNvPr id="12" name="Text 10"/>
          <p:cNvSpPr/>
          <p:nvPr/>
        </p:nvSpPr>
        <p:spPr>
          <a:xfrm>
            <a:off x="4480560" y="2697480"/>
            <a:ext cx="3154680" cy="329184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Realised bookings only : no quoted prices or un-booked sessions.</a:t>
            </a:r>
            <a:endParaRPr lang="en-US" sz="1150" dirty="0"/>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No room type, rate plan or cancellation policy in the data.</a:t>
            </a:r>
            <a:endParaRPr lang="en-US" sz="1150" dirty="0"/>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No occupancy or competitor pricing : can't see demand pressure.</a:t>
            </a:r>
            <a:endParaRPr lang="en-US" sz="1150" dirty="0"/>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One quarter, 5 cities, up to 3-night stays, 2016 vintage.</a:t>
            </a:r>
            <a:endParaRPr lang="en-US" sz="1150" dirty="0"/>
          </a:p>
        </p:txBody>
      </p:sp>
      <p:sp>
        <p:nvSpPr>
          <p:cNvPr id="13" name="Shape 11"/>
          <p:cNvSpPr/>
          <p:nvPr/>
        </p:nvSpPr>
        <p:spPr>
          <a:xfrm>
            <a:off x="7955280" y="2103120"/>
            <a:ext cx="3611880" cy="4023360"/>
          </a:xfrm>
          <a:prstGeom prst="rect">
            <a:avLst/>
          </a:prstGeom>
          <a:solidFill>
            <a:srgbClr val="F4F6FB"/>
          </a:solidFill>
          <a:ln/>
        </p:spPr>
        <p:txBody>
          <a:bodyPr/>
          <a:lstStyle/>
          <a:p>
            <a:endParaRPr lang="en-IN"/>
          </a:p>
        </p:txBody>
      </p:sp>
      <p:sp>
        <p:nvSpPr>
          <p:cNvPr id="14" name="Shape 12"/>
          <p:cNvSpPr/>
          <p:nvPr/>
        </p:nvSpPr>
        <p:spPr>
          <a:xfrm>
            <a:off x="7955280" y="2103120"/>
            <a:ext cx="3611880" cy="457200"/>
          </a:xfrm>
          <a:prstGeom prst="rect">
            <a:avLst/>
          </a:prstGeom>
          <a:solidFill>
            <a:srgbClr val="1FA8C9"/>
          </a:solidFill>
          <a:ln/>
        </p:spPr>
        <p:txBody>
          <a:bodyPr/>
          <a:lstStyle/>
          <a:p>
            <a:endParaRPr lang="en-IN"/>
          </a:p>
        </p:txBody>
      </p:sp>
      <p:sp>
        <p:nvSpPr>
          <p:cNvPr id="15" name="Text 13"/>
          <p:cNvSpPr/>
          <p:nvPr/>
        </p:nvSpPr>
        <p:spPr>
          <a:xfrm>
            <a:off x="8138160" y="2148840"/>
            <a:ext cx="3246120" cy="36576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Data that would sharpen it</a:t>
            </a:r>
            <a:endParaRPr lang="en-US" sz="1350" dirty="0"/>
          </a:p>
        </p:txBody>
      </p:sp>
      <p:sp>
        <p:nvSpPr>
          <p:cNvPr id="16" name="Text 14"/>
          <p:cNvSpPr/>
          <p:nvPr/>
        </p:nvSpPr>
        <p:spPr>
          <a:xfrm>
            <a:off x="8183880" y="2697480"/>
            <a:ext cx="3154680" cy="329184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Daily price quotes per room-night : a true price-over-time panel.</a:t>
            </a:r>
            <a:endParaRPr lang="en-US" sz="1150" dirty="0"/>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Funnel events: impressions, clicks, conversion by step.</a:t>
            </a:r>
            <a:endParaRPr lang="en-US" sz="1150" dirty="0"/>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Real-time occupancy / inventory remaining per property.</a:t>
            </a:r>
            <a:endParaRPr lang="en-US" sz="1150" dirty="0"/>
          </a:p>
          <a:p>
            <a:pPr marL="177800" indent="-177800">
              <a:lnSpc>
                <a:spcPct val="105000"/>
              </a:lnSpc>
              <a:spcAft>
                <a:spcPts val="900"/>
              </a:spcAft>
              <a:buSzPct val="100000"/>
              <a:buChar char="•"/>
            </a:pPr>
            <a:r>
              <a:rPr lang="en-US" sz="1150" dirty="0">
                <a:solidFill>
                  <a:srgbClr val="1C2233"/>
                </a:solidFill>
                <a:latin typeface="Calibri" pitchFamily="34" charset="0"/>
                <a:ea typeface="Calibri" pitchFamily="34" charset="-122"/>
                <a:cs typeface="Calibri" pitchFamily="34" charset="-120"/>
              </a:rPr>
              <a:t>Competitor rates and demand/event signals; customer segment.</a:t>
            </a:r>
            <a:endParaRPr lang="en-US" sz="1150" dirty="0"/>
          </a:p>
        </p:txBody>
      </p:sp>
      <p:sp>
        <p:nvSpPr>
          <p:cNvPr id="17" name="Text 15"/>
          <p:cNvSpPr/>
          <p:nvPr/>
        </p:nvSpPr>
        <p:spPr>
          <a:xfrm>
            <a:off x="548640" y="6263640"/>
            <a:ext cx="11064240" cy="411480"/>
          </a:xfrm>
          <a:prstGeom prst="rect">
            <a:avLst/>
          </a:prstGeom>
          <a:noFill/>
          <a:ln/>
        </p:spPr>
        <p:txBody>
          <a:bodyPr wrap="square" lIns="0" tIns="0" rIns="0" bIns="0" rtlCol="0" anchor="ctr"/>
          <a:lstStyle/>
          <a:p>
            <a:pPr marL="0" indent="0">
              <a:buNone/>
            </a:pPr>
            <a:r>
              <a:rPr lang="en-US" sz="1100" b="1" i="1" dirty="0">
                <a:solidFill>
                  <a:srgbClr val="2B5CE6"/>
                </a:solidFill>
                <a:latin typeface="Calibri" pitchFamily="34" charset="0"/>
                <a:ea typeface="Calibri" pitchFamily="34" charset="-122"/>
                <a:cs typeface="Calibri" pitchFamily="34" charset="-120"/>
              </a:rPr>
              <a:t>Validating the assumptions:  </a:t>
            </a:r>
            <a:r>
              <a:rPr lang="en-US" sz="1100" i="1" dirty="0">
                <a:solidFill>
                  <a:srgbClr val="64748B"/>
                </a:solidFill>
                <a:latin typeface="Calibri" pitchFamily="34" charset="0"/>
                <a:ea typeface="Calibri" pitchFamily="34" charset="-122"/>
                <a:cs typeface="Calibri" pitchFamily="34" charset="-120"/>
              </a:rPr>
              <a:t>the A/B test confirms the conversion assumption; a daily price-quote feed would directly test the ADR-as-signal and availability assumptions before any rollout.</a:t>
            </a:r>
            <a:endParaRPr lang="en-US" sz="1100" dirty="0"/>
          </a:p>
        </p:txBody>
      </p:sp>
      <p:pic>
        <p:nvPicPr>
          <p:cNvPr id="18" name="Picture 17">
            <a:extLst>
              <a:ext uri="{FF2B5EF4-FFF2-40B4-BE49-F238E27FC236}">
                <a16:creationId xmlns:a16="http://schemas.microsoft.com/office/drawing/2014/main" id="{549CA9CF-42B1-761C-C6EB-459DDB9068E9}"/>
              </a:ext>
            </a:extLst>
          </p:cNvPr>
          <p:cNvPicPr>
            <a:picLocks noChangeAspect="1"/>
          </p:cNvPicPr>
          <p:nvPr/>
        </p:nvPicPr>
        <p:blipFill>
          <a:blip r:embed="rId3"/>
          <a:stretch>
            <a:fillRect/>
          </a:stretch>
        </p:blipFill>
        <p:spPr>
          <a:xfrm>
            <a:off x="10813872" y="-44952"/>
            <a:ext cx="1376825" cy="9031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92608"/>
          </a:xfrm>
          <a:prstGeom prst="rect">
            <a:avLst/>
          </a:prstGeom>
          <a:noFill/>
          <a:ln/>
        </p:spPr>
        <p:txBody>
          <a:bodyPr wrap="square" lIns="0" tIns="0" rIns="0" bIns="0" rtlCol="0" anchor="ctr"/>
          <a:lstStyle/>
          <a:p>
            <a:pPr marL="0" indent="0">
              <a:buNone/>
            </a:pPr>
            <a:r>
              <a:rPr lang="en-US" sz="1200" b="1" kern="0" spc="200" dirty="0">
                <a:solidFill>
                  <a:srgbClr val="2B5CE6"/>
                </a:solidFill>
                <a:latin typeface="Calibri" pitchFamily="34" charset="0"/>
                <a:ea typeface="Calibri" pitchFamily="34" charset="-122"/>
                <a:cs typeface="Calibri" pitchFamily="34" charset="-120"/>
              </a:rPr>
              <a:t>APPENDIX  ·  PYTHON</a:t>
            </a:r>
            <a:endParaRPr lang="en-US" sz="1200" dirty="0"/>
          </a:p>
        </p:txBody>
      </p:sp>
      <p:sp>
        <p:nvSpPr>
          <p:cNvPr id="3" name="Text 1"/>
          <p:cNvSpPr/>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C2233"/>
                </a:solidFill>
                <a:latin typeface="Calibri" pitchFamily="34" charset="0"/>
                <a:ea typeface="Calibri" pitchFamily="34" charset="-122"/>
                <a:cs typeface="Calibri" pitchFamily="34" charset="-120"/>
              </a:rPr>
              <a:t>How I proved it : the statistical test</a:t>
            </a:r>
            <a:endParaRPr lang="en-US" sz="3200" dirty="0"/>
          </a:p>
        </p:txBody>
      </p:sp>
      <p:sp>
        <p:nvSpPr>
          <p:cNvPr id="4" name="Text 2"/>
          <p:cNvSpPr/>
          <p:nvPr/>
        </p:nvSpPr>
        <p:spPr>
          <a:xfrm>
            <a:off x="566928" y="1508760"/>
            <a:ext cx="11064240" cy="457200"/>
          </a:xfrm>
          <a:prstGeom prst="rect">
            <a:avLst/>
          </a:prstGeom>
          <a:noFill/>
          <a:ln/>
        </p:spPr>
        <p:txBody>
          <a:bodyPr wrap="square" lIns="0" tIns="0" rIns="0" bIns="0" rtlCol="0" anchor="ctr"/>
          <a:lstStyle/>
          <a:p>
            <a:pPr marL="0" indent="0">
              <a:buNone/>
            </a:pPr>
            <a:r>
              <a:rPr lang="en-US" sz="1500" i="1" dirty="0">
                <a:solidFill>
                  <a:srgbClr val="2B5CE6"/>
                </a:solidFill>
                <a:latin typeface="Calibri Light" pitchFamily="34" charset="0"/>
                <a:ea typeface="Calibri Light" pitchFamily="34" charset="-122"/>
                <a:cs typeface="Calibri Light" pitchFamily="34" charset="-120"/>
              </a:rPr>
              <a:t>OLS with progressively tighter controls; the timing effect collapses to zero.</a:t>
            </a:r>
            <a:endParaRPr lang="en-US" sz="1500" dirty="0"/>
          </a:p>
        </p:txBody>
      </p:sp>
      <p:sp>
        <p:nvSpPr>
          <p:cNvPr id="7" name="Text 4"/>
          <p:cNvSpPr/>
          <p:nvPr/>
        </p:nvSpPr>
        <p:spPr>
          <a:xfrm>
            <a:off x="7315200" y="2103120"/>
            <a:ext cx="4297680" cy="365760"/>
          </a:xfrm>
          <a:prstGeom prst="rect">
            <a:avLst/>
          </a:prstGeom>
          <a:noFill/>
          <a:ln/>
        </p:spPr>
        <p:txBody>
          <a:bodyPr wrap="square" lIns="0" tIns="0" rIns="0" bIns="0" rtlCol="0" anchor="ctr"/>
          <a:lstStyle/>
          <a:p>
            <a:pPr marL="0" indent="0">
              <a:buNone/>
            </a:pPr>
            <a:r>
              <a:rPr lang="en-US" sz="1600" b="1" dirty="0">
                <a:solidFill>
                  <a:srgbClr val="10239E"/>
                </a:solidFill>
                <a:latin typeface="Calibri" pitchFamily="34" charset="0"/>
                <a:ea typeface="Calibri" pitchFamily="34" charset="-122"/>
                <a:cs typeface="Calibri" pitchFamily="34" charset="-120"/>
              </a:rPr>
              <a:t>Read the collapse</a:t>
            </a:r>
            <a:endParaRPr lang="en-US" sz="1600" dirty="0"/>
          </a:p>
        </p:txBody>
      </p:sp>
      <p:sp>
        <p:nvSpPr>
          <p:cNvPr id="8" name="Text 5"/>
          <p:cNvSpPr/>
          <p:nvPr/>
        </p:nvSpPr>
        <p:spPr>
          <a:xfrm>
            <a:off x="7315200" y="2606040"/>
            <a:ext cx="4297680" cy="365760"/>
          </a:xfrm>
          <a:prstGeom prst="rect">
            <a:avLst/>
          </a:prstGeom>
          <a:noFill/>
          <a:ln/>
        </p:spPr>
        <p:txBody>
          <a:bodyPr wrap="square" lIns="0" tIns="0" rIns="0" bIns="0" rtlCol="0" anchor="ctr"/>
          <a:lstStyle/>
          <a:p>
            <a:pPr marL="0" indent="0">
              <a:buNone/>
            </a:pPr>
            <a:r>
              <a:rPr lang="en-US" sz="1350" b="1" dirty="0">
                <a:solidFill>
                  <a:srgbClr val="1C2233"/>
                </a:solidFill>
                <a:latin typeface="Calibri" pitchFamily="34" charset="0"/>
                <a:ea typeface="Calibri" pitchFamily="34" charset="-122"/>
                <a:cs typeface="Calibri" pitchFamily="34" charset="-120"/>
              </a:rPr>
              <a:t>Naive:  -$0.97/day</a:t>
            </a:r>
            <a:endParaRPr lang="en-US" sz="1350" dirty="0"/>
          </a:p>
        </p:txBody>
      </p:sp>
      <p:sp>
        <p:nvSpPr>
          <p:cNvPr id="9" name="Text 6"/>
          <p:cNvSpPr/>
          <p:nvPr/>
        </p:nvSpPr>
        <p:spPr>
          <a:xfrm>
            <a:off x="7315200" y="3108960"/>
            <a:ext cx="4297680" cy="365760"/>
          </a:xfrm>
          <a:prstGeom prst="rect">
            <a:avLst/>
          </a:prstGeom>
          <a:noFill/>
          <a:ln/>
        </p:spPr>
        <p:txBody>
          <a:bodyPr wrap="square" lIns="0" tIns="0" rIns="0" bIns="0" rtlCol="0" anchor="ctr"/>
          <a:lstStyle/>
          <a:p>
            <a:pPr marL="0" indent="0">
              <a:buNone/>
            </a:pPr>
            <a:r>
              <a:rPr lang="en-US" sz="1350" b="1" dirty="0">
                <a:solidFill>
                  <a:srgbClr val="1C2233"/>
                </a:solidFill>
                <a:latin typeface="Calibri" pitchFamily="34" charset="0"/>
                <a:ea typeface="Calibri" pitchFamily="34" charset="-122"/>
                <a:cs typeface="Calibri" pitchFamily="34" charset="-120"/>
              </a:rPr>
              <a:t>+ Controls:  -$0.42/day</a:t>
            </a:r>
            <a:endParaRPr lang="en-US" sz="1350" dirty="0"/>
          </a:p>
        </p:txBody>
      </p:sp>
      <p:sp>
        <p:nvSpPr>
          <p:cNvPr id="10" name="Text 7"/>
          <p:cNvSpPr/>
          <p:nvPr/>
        </p:nvSpPr>
        <p:spPr>
          <a:xfrm>
            <a:off x="7315200" y="3611880"/>
            <a:ext cx="4297680" cy="365760"/>
          </a:xfrm>
          <a:prstGeom prst="rect">
            <a:avLst/>
          </a:prstGeom>
          <a:noFill/>
          <a:ln/>
        </p:spPr>
        <p:txBody>
          <a:bodyPr wrap="square" lIns="0" tIns="0" rIns="0" bIns="0" rtlCol="0" anchor="ctr"/>
          <a:lstStyle/>
          <a:p>
            <a:pPr marL="0" indent="0">
              <a:buNone/>
            </a:pPr>
            <a:r>
              <a:rPr lang="en-US" sz="1350" b="1" dirty="0">
                <a:solidFill>
                  <a:srgbClr val="1C2233"/>
                </a:solidFill>
                <a:latin typeface="Calibri" pitchFamily="34" charset="0"/>
                <a:ea typeface="Calibri" pitchFamily="34" charset="-122"/>
                <a:cs typeface="Calibri" pitchFamily="34" charset="-120"/>
              </a:rPr>
              <a:t>Hotel fixed effects:  -$0.25/day</a:t>
            </a:r>
            <a:endParaRPr lang="en-US" sz="1350" dirty="0"/>
          </a:p>
        </p:txBody>
      </p:sp>
      <p:sp>
        <p:nvSpPr>
          <p:cNvPr id="11" name="Text 8"/>
          <p:cNvSpPr/>
          <p:nvPr/>
        </p:nvSpPr>
        <p:spPr>
          <a:xfrm>
            <a:off x="7315200" y="4114800"/>
            <a:ext cx="4297680" cy="365760"/>
          </a:xfrm>
          <a:prstGeom prst="rect">
            <a:avLst/>
          </a:prstGeom>
          <a:noFill/>
          <a:ln/>
        </p:spPr>
        <p:txBody>
          <a:bodyPr wrap="square" lIns="0" tIns="0" rIns="0" bIns="0" rtlCol="0" anchor="ctr"/>
          <a:lstStyle/>
          <a:p>
            <a:pPr marL="0" indent="0">
              <a:buNone/>
            </a:pPr>
            <a:r>
              <a:rPr lang="en-US" sz="1350" b="1" dirty="0">
                <a:solidFill>
                  <a:srgbClr val="E5326E"/>
                </a:solidFill>
                <a:latin typeface="Calibri" pitchFamily="34" charset="0"/>
                <a:ea typeface="Calibri" pitchFamily="34" charset="-122"/>
                <a:cs typeface="Calibri" pitchFamily="34" charset="-120"/>
              </a:rPr>
              <a:t>Same room-night:  -$0.005/day  (p=0.88)</a:t>
            </a:r>
            <a:endParaRPr lang="en-US" sz="1350" dirty="0"/>
          </a:p>
        </p:txBody>
      </p:sp>
      <p:sp>
        <p:nvSpPr>
          <p:cNvPr id="12" name="Text 9"/>
          <p:cNvSpPr/>
          <p:nvPr/>
        </p:nvSpPr>
        <p:spPr>
          <a:xfrm>
            <a:off x="7315200" y="4709160"/>
            <a:ext cx="4297680" cy="1828800"/>
          </a:xfrm>
          <a:prstGeom prst="rect">
            <a:avLst/>
          </a:prstGeom>
          <a:noFill/>
          <a:ln/>
        </p:spPr>
        <p:txBody>
          <a:bodyPr wrap="square" lIns="0" tIns="0" rIns="0" bIns="0" rtlCol="0" anchor="ctr"/>
          <a:lstStyle/>
          <a:p>
            <a:pPr marL="0" indent="0">
              <a:lnSpc>
                <a:spcPct val="120000"/>
              </a:lnSpc>
              <a:buNone/>
            </a:pPr>
            <a:r>
              <a:rPr lang="en-US" sz="1200" dirty="0">
                <a:solidFill>
                  <a:srgbClr val="64748B"/>
                </a:solidFill>
                <a:latin typeface="Calibri" pitchFamily="34" charset="0"/>
                <a:ea typeface="Calibri" pitchFamily="34" charset="-122"/>
                <a:cs typeface="Calibri" pitchFamily="34" charset="-120"/>
              </a:rPr>
              <a:t>Comparing the same room-night to itself, the effect is statistically zero. The 39.5% was confounding : selection bias, not real price movement. Chain status adds ~$7 and is absorbed by hotel fixed effects.</a:t>
            </a:r>
            <a:endParaRPr lang="en-US" sz="1200" dirty="0"/>
          </a:p>
        </p:txBody>
      </p:sp>
      <p:pic>
        <p:nvPicPr>
          <p:cNvPr id="14" name="Picture 13">
            <a:extLst>
              <a:ext uri="{FF2B5EF4-FFF2-40B4-BE49-F238E27FC236}">
                <a16:creationId xmlns:a16="http://schemas.microsoft.com/office/drawing/2014/main" id="{2DD29AA7-9510-7DE9-E44A-6F42F71BD0C8}"/>
              </a:ext>
            </a:extLst>
          </p:cNvPr>
          <p:cNvPicPr>
            <a:picLocks noChangeAspect="1"/>
          </p:cNvPicPr>
          <p:nvPr/>
        </p:nvPicPr>
        <p:blipFill>
          <a:blip r:embed="rId3"/>
          <a:stretch>
            <a:fillRect/>
          </a:stretch>
        </p:blipFill>
        <p:spPr>
          <a:xfrm>
            <a:off x="219582" y="2149703"/>
            <a:ext cx="6813929" cy="37792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40C571BB-5CF1-96D0-9439-279A72FFC965}"/>
              </a:ext>
            </a:extLst>
          </p:cNvPr>
          <p:cNvPicPr>
            <a:picLocks noChangeAspect="1"/>
          </p:cNvPicPr>
          <p:nvPr/>
        </p:nvPicPr>
        <p:blipFill>
          <a:blip r:embed="rId4"/>
          <a:stretch>
            <a:fillRect/>
          </a:stretch>
        </p:blipFill>
        <p:spPr>
          <a:xfrm>
            <a:off x="10813872" y="-44952"/>
            <a:ext cx="1376825" cy="9031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2757</TotalTime>
  <Words>3803</Words>
  <Application>Microsoft Office PowerPoint</Application>
  <PresentationFormat>Widescreen</PresentationFormat>
  <Paragraphs>210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Twentieth Century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Urgency Message</dc:title>
  <dc:subject>PptxGenJS Presentation</dc:subject>
  <dc:creator>Abhishek Raj</dc:creator>
  <cp:lastModifiedBy>Akash Kataria</cp:lastModifiedBy>
  <cp:revision>85</cp:revision>
  <dcterms:created xsi:type="dcterms:W3CDTF">2026-05-31T13:45:04Z</dcterms:created>
  <dcterms:modified xsi:type="dcterms:W3CDTF">2026-10-28T18:57:38Z</dcterms:modified>
</cp:coreProperties>
</file>